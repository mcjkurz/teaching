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3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0"/>
            <a:ext cx="720821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266944" cy="6858000"/>
          </a:xfrm>
          <a:prstGeom prst="rect">
            <a:avLst/>
          </a:prstGeom>
          <a:solidFill>
            <a:srgbClr val="19232D"/>
          </a:solidFill>
          <a:ln>
            <a:solidFill>
              <a:srgbClr val="19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0352" y="676656"/>
            <a:ext cx="1060704" cy="73152"/>
          </a:xfrm>
          <a:prstGeom prst="rect">
            <a:avLst/>
          </a:prstGeom>
          <a:solidFill>
            <a:srgbClr val="B95131"/>
          </a:solidFill>
          <a:ln>
            <a:solidFill>
              <a:srgbClr val="B95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960120"/>
            <a:ext cx="3566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C89128"/>
                </a:solidFill>
                <a:latin typeface="Aptos"/>
              </a:rPr>
              <a:t>CHI 4335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481328"/>
            <a:ext cx="4206240" cy="1353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500" b="1" i="0">
                <a:solidFill>
                  <a:srgbClr val="FFFFFF"/>
                </a:solidFill>
                <a:latin typeface="PingFang HK"/>
              </a:rPr>
              <a:t>比較文學專題：
面對極端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" y="3017520"/>
            <a:ext cx="3977639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DADFE3"/>
                </a:solidFill>
                <a:latin typeface="Aptos"/>
              </a:rPr>
              <a:t>Special Topics in Comparative Literature:
Facing the Extreme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" y="4151376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C89128"/>
                </a:solidFill>
                <a:latin typeface="PingFang HK"/>
              </a:rPr>
              <a:t>課程導論 · Course Introduction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" y="4800600"/>
            <a:ext cx="384048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PingFang HK"/>
              </a:rPr>
              <a:t>2026–2027 學年第一學期
Maciej Kurzynski 馬傑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" y="59893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C5CDD3"/>
                </a:solidFill>
                <a:latin typeface="PingFang HK"/>
              </a:rPr>
              <a:t>以普通話授課 · Putonghua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95131"/>
          </a:solidFill>
          <a:ln>
            <a:solidFill>
              <a:srgbClr val="B95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052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9232D"/>
                </a:solidFill>
                <a:latin typeface="PingFang HK"/>
              </a:rPr>
              <a:t>課程核心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896112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B95131"/>
                </a:solidFill>
                <a:latin typeface="Aptos"/>
              </a:rPr>
              <a:t>THE COURSE IN ONE IDEA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B95131"/>
          </a:solidFill>
          <a:ln>
            <a:solidFill>
              <a:srgbClr val="B95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2823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6717A"/>
                </a:solidFill>
                <a:latin typeface="PingFang HK"/>
              </a:rPr>
              <a:t>CHI 4335 · 比較文學專題：面對極端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09944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17A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100" b="1" i="0">
                <a:solidFill>
                  <a:srgbClr val="19232D"/>
                </a:solidFill>
                <a:latin typeface="PingFang HK"/>
              </a:rPr>
              <a:t>文學如何面對人類經驗的極端？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93392"/>
            <a:ext cx="10149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66717A"/>
                </a:solidFill>
                <a:latin typeface="Aptos"/>
              </a:rPr>
              <a:t>How does literature face the extremes of human experience?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43200"/>
            <a:ext cx="3429000" cy="2331720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743200"/>
            <a:ext cx="100584" cy="2331720"/>
          </a:xfrm>
          <a:prstGeom prst="rect">
            <a:avLst/>
          </a:prstGeom>
          <a:solidFill>
            <a:srgbClr val="B95131"/>
          </a:solidFill>
          <a:ln>
            <a:solidFill>
              <a:srgbClr val="B95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97180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B95131"/>
                </a:solidFill>
                <a:latin typeface="PingFang HK"/>
              </a:rPr>
              <a:t>比較視野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429000"/>
            <a:ext cx="2926080" cy="1490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800" b="0" i="0">
                <a:solidFill>
                  <a:srgbClr val="19232D"/>
                </a:solidFill>
                <a:latin typeface="PingFang HK"/>
              </a:rPr>
              <a:t>• 世界文學，特別關注現代中國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800" b="0" i="0">
                <a:solidFill>
                  <a:srgbClr val="19232D"/>
                </a:solidFill>
                <a:latin typeface="PingFang HK"/>
              </a:rPr>
              <a:t>• 跨越文化、歷史與文類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743200"/>
            <a:ext cx="3429000" cy="2331720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2743200"/>
            <a:ext cx="100584" cy="2331720"/>
          </a:xfrm>
          <a:prstGeom prst="rect">
            <a:avLst/>
          </a:prstGeom>
          <a:solidFill>
            <a:srgbClr val="2D6E69"/>
          </a:solidFill>
          <a:ln>
            <a:solidFill>
              <a:srgbClr val="2D6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297180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D6E69"/>
                </a:solidFill>
                <a:latin typeface="PingFang HK"/>
              </a:rPr>
              <a:t>極端經驗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3429000"/>
            <a:ext cx="2926080" cy="1490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800" b="0" i="0">
                <a:solidFill>
                  <a:srgbClr val="19232D"/>
                </a:solidFill>
                <a:latin typeface="PingFang HK"/>
              </a:rPr>
              <a:t>• 天災人禍、政治暴力與創傷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800" b="0" i="0">
                <a:solidFill>
                  <a:srgbClr val="19232D"/>
                </a:solidFill>
                <a:latin typeface="PingFang HK"/>
              </a:rPr>
              <a:t>• 也思考韌性、希望與救贖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2743200"/>
            <a:ext cx="3429000" cy="2331720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2743200"/>
            <a:ext cx="100584" cy="2331720"/>
          </a:xfrm>
          <a:prstGeom prst="rect">
            <a:avLst/>
          </a:prstGeom>
          <a:solidFill>
            <a:srgbClr val="7A3040"/>
          </a:solidFill>
          <a:ln>
            <a:solidFill>
              <a:srgbClr val="7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94192" y="297180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7A3040"/>
                </a:solidFill>
                <a:latin typeface="PingFang HK"/>
              </a:rPr>
              <a:t>細讀方法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3429000"/>
            <a:ext cx="2926080" cy="1490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800" b="0" i="0">
                <a:solidFill>
                  <a:srgbClr val="19232D"/>
                </a:solidFill>
                <a:latin typeface="PingFang HK"/>
              </a:rPr>
              <a:t>• 先精確描述文學現象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800" b="0" i="0">
                <a:solidFill>
                  <a:srgbClr val="19232D"/>
                </a:solidFill>
                <a:latin typeface="PingFang HK"/>
              </a:rPr>
              <a:t>• 再建立有證據的詮釋與比較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669280"/>
            <a:ext cx="96012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66717A"/>
                </a:solidFill>
                <a:latin typeface="PingFang HK"/>
              </a:rPr>
              <a:t>出發點：霍布斯邦所稱的二十世紀「極端的年代」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040"/>
          </a:solidFill>
          <a:ln>
            <a:solidFill>
              <a:srgbClr val="7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052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9232D"/>
                </a:solidFill>
                <a:latin typeface="PingFang HK"/>
              </a:rPr>
              <a:t>四個貫穿全課程的問題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896112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7A3040"/>
                </a:solidFill>
                <a:latin typeface="Aptos"/>
              </a:rPr>
              <a:t>OUR RECURRING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7A3040"/>
          </a:solidFill>
          <a:ln>
            <a:solidFill>
              <a:srgbClr val="7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2823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6717A"/>
                </a:solidFill>
                <a:latin typeface="PingFang HK"/>
              </a:rPr>
              <a:t>CHI 4335 · 比較文學專題：面對極端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09944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17A"/>
                </a:solidFill>
                <a:latin typeface="Aptos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5257800" cy="1764792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709928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7A3040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691639"/>
            <a:ext cx="39319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9232D"/>
                </a:solidFill>
                <a:latin typeface="PingFang HK"/>
              </a:rPr>
              <a:t>個人與社會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249424"/>
            <a:ext cx="38404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0" i="0">
                <a:solidFill>
                  <a:srgbClr val="66717A"/>
                </a:solidFill>
                <a:latin typeface="PingFang HK"/>
              </a:rPr>
              <a:t>極端經驗如何改變個人、群體與制度？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08760"/>
            <a:ext cx="5257800" cy="1764792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709928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7A3040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1691639"/>
            <a:ext cx="39319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9232D"/>
                </a:solidFill>
                <a:latin typeface="PingFang HK"/>
              </a:rPr>
              <a:t>身體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249424"/>
            <a:ext cx="38404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0" i="0">
                <a:solidFill>
                  <a:srgbClr val="66717A"/>
                </a:solidFill>
                <a:latin typeface="PingFang HK"/>
              </a:rPr>
              <a:t>痛苦、勞動、暴力與感官如何被書寫？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794760"/>
            <a:ext cx="5257800" cy="1764792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3995928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7A3040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977640"/>
            <a:ext cx="39319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9232D"/>
                </a:solidFill>
                <a:latin typeface="PingFang HK"/>
              </a:rPr>
              <a:t>虛構性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535424"/>
            <a:ext cx="38404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0" i="0">
                <a:solidFill>
                  <a:srgbClr val="66717A"/>
                </a:solidFill>
                <a:latin typeface="PingFang HK"/>
              </a:rPr>
              <a:t>作者如何混合見證、記憶、歷史與想像？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794760"/>
            <a:ext cx="5257800" cy="1764792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3995928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7A3040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3977640"/>
            <a:ext cx="39319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9232D"/>
                </a:solidFill>
                <a:latin typeface="PingFang HK"/>
              </a:rPr>
              <a:t>性別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535424"/>
            <a:ext cx="38404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0" i="0">
                <a:solidFill>
                  <a:srgbClr val="66717A"/>
                </a:solidFill>
                <a:latin typeface="PingFang HK"/>
              </a:rPr>
              <a:t>女性如何被描寫？危機如何重塑性別角色？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E69"/>
          </a:solidFill>
          <a:ln>
            <a:solidFill>
              <a:srgbClr val="2D6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052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9232D"/>
                </a:solidFill>
                <a:latin typeface="PingFang HK"/>
              </a:rPr>
              <a:t>完成課程後，你應能夠……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896112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2D6E69"/>
                </a:solidFill>
                <a:latin typeface="Aptos"/>
              </a:rPr>
              <a:t>LEARNING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2D6E69"/>
          </a:solidFill>
          <a:ln>
            <a:solidFill>
              <a:srgbClr val="2D6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2823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6717A"/>
                </a:solidFill>
                <a:latin typeface="PingFang HK"/>
              </a:rPr>
              <a:t>CHI 4335 · 比較文學專題：面對極端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09944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17A"/>
                </a:solidFill>
                <a:latin typeface="Aptos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17320"/>
            <a:ext cx="1426464" cy="822960"/>
          </a:xfrm>
          <a:prstGeom prst="roundRect">
            <a:avLst>
              <a:gd name="adj" fmla="val 12000"/>
            </a:avLst>
          </a:prstGeom>
          <a:solidFill>
            <a:srgbClr val="B95131"/>
          </a:solidFill>
          <a:ln>
            <a:solidFill>
              <a:srgbClr val="B95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17320"/>
            <a:ext cx="1426464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PingFang HK"/>
              </a:rPr>
              <a:t>辨識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1527048"/>
            <a:ext cx="864108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19232D"/>
                </a:solidFill>
                <a:latin typeface="PingFang HK"/>
              </a:rPr>
              <a:t>文學中的極端經驗所涉及的哲學與社會問題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633472"/>
            <a:ext cx="1426464" cy="822960"/>
          </a:xfrm>
          <a:prstGeom prst="roundRect">
            <a:avLst>
              <a:gd name="adj" fmla="val 12000"/>
            </a:avLst>
          </a:prstGeom>
          <a:solidFill>
            <a:srgbClr val="2D6E69"/>
          </a:solidFill>
          <a:ln>
            <a:solidFill>
              <a:srgbClr val="2D6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633472"/>
            <a:ext cx="1426464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PingFang HK"/>
              </a:rPr>
              <a:t>闡明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743200"/>
            <a:ext cx="864108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19232D"/>
                </a:solidFill>
                <a:latin typeface="PingFang HK"/>
              </a:rPr>
              <a:t>不同文化與文類回應極端處境的核心特徵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849624"/>
            <a:ext cx="1426464" cy="822960"/>
          </a:xfrm>
          <a:prstGeom prst="roundRect">
            <a:avLst>
              <a:gd name="adj" fmla="val 12000"/>
            </a:avLst>
          </a:prstGeom>
          <a:solidFill>
            <a:srgbClr val="425F7A"/>
          </a:solidFill>
          <a:ln>
            <a:solidFill>
              <a:srgbClr val="425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849624"/>
            <a:ext cx="1426464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PingFang HK"/>
              </a:rPr>
              <a:t>比較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3959352"/>
            <a:ext cx="864108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19232D"/>
                </a:solidFill>
                <a:latin typeface="PingFang HK"/>
              </a:rPr>
              <a:t>災難、創傷與人類韌性的跨文化視角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065776"/>
            <a:ext cx="1426464" cy="822960"/>
          </a:xfrm>
          <a:prstGeom prst="roundRect">
            <a:avLst>
              <a:gd name="adj" fmla="val 12000"/>
            </a:avLst>
          </a:prstGeom>
          <a:solidFill>
            <a:srgbClr val="7A3040"/>
          </a:solidFill>
          <a:ln>
            <a:solidFill>
              <a:srgbClr val="7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065776"/>
            <a:ext cx="1426464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PingFang HK"/>
              </a:rPr>
              <a:t>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5175504"/>
            <a:ext cx="864108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19232D"/>
                </a:solidFill>
                <a:latin typeface="PingFang HK"/>
              </a:rPr>
              <a:t>兼具精確描述、創意與歷史脈絡的文本分析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25F7A"/>
          </a:solidFill>
          <a:ln>
            <a:solidFill>
              <a:srgbClr val="425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052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9232D"/>
                </a:solidFill>
                <a:latin typeface="PingFang HK"/>
              </a:rPr>
              <a:t>上課資訊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896112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425F7A"/>
                </a:solidFill>
                <a:latin typeface="Aptos"/>
              </a:rPr>
              <a:t>WHEN, WHERE, AND HOW TO REACH ME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425F7A"/>
          </a:solidFill>
          <a:ln>
            <a:solidFill>
              <a:srgbClr val="425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2823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6717A"/>
                </a:solidFill>
                <a:latin typeface="PingFang HK"/>
              </a:rPr>
              <a:t>CHI 4335 · 比較文學專題：面對極端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09944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17A"/>
                </a:solidFill>
                <a:latin typeface="Aptos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3657600" cy="1828800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100584" cy="1828800"/>
          </a:xfrm>
          <a:prstGeom prst="rect">
            <a:avLst/>
          </a:prstGeom>
          <a:solidFill>
            <a:srgbClr val="425F7A"/>
          </a:solidFill>
          <a:ln>
            <a:solidFill>
              <a:srgbClr val="425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645920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425F7A"/>
                </a:solidFill>
                <a:latin typeface="PingFang HK"/>
              </a:rPr>
              <a:t>講座 · Lecture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103120"/>
            <a:ext cx="315468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2000" b="0" i="0">
                <a:solidFill>
                  <a:srgbClr val="19232D"/>
                </a:solidFill>
                <a:latin typeface="PingFang HK"/>
              </a:rPr>
              <a:t>• 星期二 1:00–3:00 pm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2000" b="0" i="0">
                <a:solidFill>
                  <a:srgbClr val="19232D"/>
                </a:solidFill>
                <a:latin typeface="PingFang HK"/>
              </a:rPr>
              <a:t>• LYH 201/1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417320"/>
            <a:ext cx="3337560" cy="1828800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80" y="1417320"/>
            <a:ext cx="100584" cy="1828800"/>
          </a:xfrm>
          <a:prstGeom prst="rect">
            <a:avLst/>
          </a:prstGeom>
          <a:solidFill>
            <a:srgbClr val="2D6E69"/>
          </a:solidFill>
          <a:ln>
            <a:solidFill>
              <a:srgbClr val="2D6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82312" y="1645920"/>
            <a:ext cx="28346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D6E69"/>
                </a:solidFill>
                <a:latin typeface="PingFang HK"/>
              </a:rPr>
              <a:t>導修 A · Tutorial 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2312" y="2103120"/>
            <a:ext cx="2834639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800" b="0" i="0">
                <a:solidFill>
                  <a:srgbClr val="19232D"/>
                </a:solidFill>
                <a:latin typeface="PingFang HK"/>
              </a:rPr>
              <a:t>• 星期四 11:30 am–12:30 pm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800" b="0" i="0">
                <a:solidFill>
                  <a:srgbClr val="19232D"/>
                </a:solidFill>
                <a:latin typeface="PingFang HK"/>
              </a:rPr>
              <a:t>• LKK 308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417320"/>
            <a:ext cx="3429000" cy="1828800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417320"/>
            <a:ext cx="100584" cy="1828800"/>
          </a:xfrm>
          <a:prstGeom prst="rect">
            <a:avLst/>
          </a:prstGeom>
          <a:solidFill>
            <a:srgbClr val="B95131"/>
          </a:solidFill>
          <a:ln>
            <a:solidFill>
              <a:srgbClr val="B95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1" y="164592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B95131"/>
                </a:solidFill>
                <a:latin typeface="PingFang HK"/>
              </a:rPr>
              <a:t>導修 B · Tutorial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1" y="2103120"/>
            <a:ext cx="292608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800" b="0" i="0">
                <a:solidFill>
                  <a:srgbClr val="19232D"/>
                </a:solidFill>
                <a:latin typeface="PingFang HK"/>
              </a:rPr>
              <a:t>• 星期四 12:30–1:30 pm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800" b="0" i="0">
                <a:solidFill>
                  <a:srgbClr val="19232D"/>
                </a:solidFill>
                <a:latin typeface="PingFang HK"/>
              </a:rPr>
              <a:t>• LKK 308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822191"/>
            <a:ext cx="10881360" cy="1508760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4096512"/>
            <a:ext cx="640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425F7A"/>
                </a:solidFill>
                <a:latin typeface="PingFang HK"/>
              </a:rPr>
              <a:t>教師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27632" y="4059936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19232D"/>
                </a:solidFill>
                <a:latin typeface="PingFang HK"/>
              </a:rPr>
              <a:t>Maciej Kurzynski 馬傑  ·  maciej.kurzynski@ln.edu.hk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461772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425F7A"/>
                </a:solidFill>
                <a:latin typeface="PingFang HK"/>
              </a:rPr>
              <a:t>辦公室時間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4581144"/>
            <a:ext cx="88696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9232D"/>
                </a:solidFill>
                <a:latin typeface="PingFang HK"/>
              </a:rPr>
              <a:t>星期二 3:00–5:00 pm；星期五 10:00 am–12:00 pm  ·  HSH G06  ·  或另行預約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779008"/>
            <a:ext cx="9509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66717A"/>
                </a:solidFill>
                <a:latin typeface="PingFang HK"/>
              </a:rPr>
              <a:t>每週預計投入 9 小時：3 小時課堂 + 6 小時自修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9128"/>
          </a:solidFill>
          <a:ln>
            <a:solidFill>
              <a:srgbClr val="C89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052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9232D"/>
                </a:solidFill>
                <a:latin typeface="PingFang HK"/>
              </a:rPr>
              <a:t>評核一覽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896112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C89128"/>
                </a:solidFill>
                <a:latin typeface="Aptos"/>
              </a:rPr>
              <a:t>ASSESSMENT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C89128"/>
          </a:solidFill>
          <a:ln>
            <a:solidFill>
              <a:srgbClr val="C89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2823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6717A"/>
                </a:solidFill>
                <a:latin typeface="PingFang HK"/>
              </a:rPr>
              <a:t>CHI 4335 · 比較文學專題：面對極端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09944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17A"/>
                </a:solidFill>
                <a:latin typeface="Aptos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2615184" cy="4160520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481328"/>
            <a:ext cx="2615184" cy="164592"/>
          </a:xfrm>
          <a:prstGeom prst="rect">
            <a:avLst/>
          </a:prstGeom>
          <a:solidFill>
            <a:srgbClr val="B95131"/>
          </a:solidFill>
          <a:ln>
            <a:solidFill>
              <a:srgbClr val="B95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874519"/>
            <a:ext cx="26151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300" b="1" i="0">
                <a:solidFill>
                  <a:srgbClr val="B95131"/>
                </a:solidFill>
                <a:latin typeface="Aptos"/>
              </a:rPr>
              <a:t>20%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926080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19232D"/>
                </a:solidFill>
                <a:latin typeface="PingFang HK"/>
              </a:rPr>
              <a:t>課堂討論與參與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85615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66717A"/>
                </a:solidFill>
                <a:latin typeface="Aptos"/>
              </a:rPr>
              <a:t>In-class discussion and participation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38728" y="1481328"/>
            <a:ext cx="2615184" cy="4160520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38728" y="1481328"/>
            <a:ext cx="2615184" cy="164592"/>
          </a:xfrm>
          <a:prstGeom prst="rect">
            <a:avLst/>
          </a:prstGeom>
          <a:solidFill>
            <a:srgbClr val="2D6E69"/>
          </a:solidFill>
          <a:ln>
            <a:solidFill>
              <a:srgbClr val="2D6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8728" y="1874519"/>
            <a:ext cx="26151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300" b="1" i="0">
                <a:solidFill>
                  <a:srgbClr val="2D6E69"/>
                </a:solidFill>
                <a:latin typeface="Aptos"/>
              </a:rPr>
              <a:t>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2926080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19232D"/>
                </a:solidFill>
                <a:latin typeface="PingFang HK"/>
              </a:rPr>
              <a:t>比較短文（2篇）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3785615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66717A"/>
                </a:solidFill>
                <a:latin typeface="Aptos"/>
              </a:rPr>
              <a:t>Two comparative essays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19088" y="1481328"/>
            <a:ext cx="2615184" cy="4160520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19088" y="1481328"/>
            <a:ext cx="2615184" cy="164592"/>
          </a:xfrm>
          <a:prstGeom prst="rect">
            <a:avLst/>
          </a:prstGeom>
          <a:solidFill>
            <a:srgbClr val="425F7A"/>
          </a:solidFill>
          <a:ln>
            <a:solidFill>
              <a:srgbClr val="425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1874519"/>
            <a:ext cx="26151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300" b="1" i="0">
                <a:solidFill>
                  <a:srgbClr val="425F7A"/>
                </a:solidFill>
                <a:latin typeface="Aptos"/>
              </a:rPr>
              <a:t>20%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926080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19232D"/>
                </a:solidFill>
                <a:latin typeface="PingFang HK"/>
              </a:rPr>
              <a:t>口頭報告（1次）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785615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66717A"/>
                </a:solidFill>
                <a:latin typeface="Aptos"/>
              </a:rPr>
              <a:t>One oral presentation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99448" y="1481328"/>
            <a:ext cx="2615184" cy="4160520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99448" y="1481328"/>
            <a:ext cx="2615184" cy="164592"/>
          </a:xfrm>
          <a:prstGeom prst="rect">
            <a:avLst/>
          </a:prstGeom>
          <a:solidFill>
            <a:srgbClr val="7A3040"/>
          </a:solidFill>
          <a:ln>
            <a:solidFill>
              <a:srgbClr val="7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99448" y="1874519"/>
            <a:ext cx="26151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300" b="1" i="0">
                <a:solidFill>
                  <a:srgbClr val="7A3040"/>
                </a:solidFill>
                <a:latin typeface="Aptos"/>
              </a:rPr>
              <a:t>40%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2926080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19232D"/>
                </a:solidFill>
                <a:latin typeface="PingFang HK"/>
              </a:rPr>
              <a:t>期末專題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3785615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66717A"/>
                </a:solidFill>
                <a:latin typeface="Aptos"/>
              </a:rPr>
              <a:t>Final project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961888"/>
            <a:ext cx="10378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66717A"/>
                </a:solidFill>
                <a:latin typeface="PingFang HK"/>
              </a:rPr>
              <a:t>核心原則：準備充分、引用文本、精確描述、清楚比較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E69"/>
          </a:solidFill>
          <a:ln>
            <a:solidFill>
              <a:srgbClr val="2D6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052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9232D"/>
                </a:solidFill>
                <a:latin typeface="PingFang HK"/>
              </a:rPr>
              <a:t>每週如何學習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896112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2D6E69"/>
                </a:solidFill>
                <a:latin typeface="Aptos"/>
              </a:rPr>
              <a:t>WEEKLY LEARNING RHYTHM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2D6E69"/>
          </a:solidFill>
          <a:ln>
            <a:solidFill>
              <a:srgbClr val="2D6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2823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6717A"/>
                </a:solidFill>
                <a:latin typeface="PingFang HK"/>
              </a:rPr>
              <a:t>CHI 4335 · 比較文學專題：面對極端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09944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17A"/>
                </a:solidFill>
                <a:latin typeface="Aptos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1417320"/>
            <a:ext cx="804672" cy="804672"/>
          </a:xfrm>
          <a:prstGeom prst="roundRect">
            <a:avLst>
              <a:gd name="adj" fmla="val 12000"/>
            </a:avLst>
          </a:prstGeom>
          <a:solidFill>
            <a:srgbClr val="B95131"/>
          </a:solidFill>
          <a:ln>
            <a:solidFill>
              <a:srgbClr val="B95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417320"/>
            <a:ext cx="804672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1435608"/>
            <a:ext cx="18288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B95131"/>
                </a:solidFill>
                <a:latin typeface="PingFang HK"/>
              </a:rPr>
              <a:t>課前閱讀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1435608"/>
            <a:ext cx="72237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19232D"/>
                </a:solidFill>
                <a:latin typeface="PingFang HK"/>
              </a:rPr>
              <a:t>標記關鍵段落、疑問與可比較之處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0432" y="2221992"/>
            <a:ext cx="64008" cy="420624"/>
          </a:xfrm>
          <a:prstGeom prst="rect">
            <a:avLst/>
          </a:prstGeom>
          <a:solidFill>
            <a:srgbClr val="D5D0C6"/>
          </a:solidFill>
          <a:ln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" y="2642616"/>
            <a:ext cx="804672" cy="804672"/>
          </a:xfrm>
          <a:prstGeom prst="roundRect">
            <a:avLst>
              <a:gd name="adj" fmla="val 12000"/>
            </a:avLst>
          </a:prstGeom>
          <a:solidFill>
            <a:srgbClr val="425F7A"/>
          </a:solidFill>
          <a:ln>
            <a:solidFill>
              <a:srgbClr val="425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642616"/>
            <a:ext cx="804672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1952" y="2660904"/>
            <a:ext cx="18288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425F7A"/>
                </a:solidFill>
                <a:latin typeface="PingFang HK"/>
              </a:rPr>
              <a:t>講座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2660904"/>
            <a:ext cx="72237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19232D"/>
                </a:solidFill>
                <a:latin typeface="PingFang HK"/>
              </a:rPr>
              <a:t>建立歷史脈絡與理論工具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70432" y="3447288"/>
            <a:ext cx="64008" cy="420624"/>
          </a:xfrm>
          <a:prstGeom prst="rect">
            <a:avLst/>
          </a:prstGeom>
          <a:solidFill>
            <a:srgbClr val="D5D0C6"/>
          </a:solidFill>
          <a:ln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" y="3867912"/>
            <a:ext cx="804672" cy="804672"/>
          </a:xfrm>
          <a:prstGeom prst="roundRect">
            <a:avLst>
              <a:gd name="adj" fmla="val 12000"/>
            </a:avLst>
          </a:prstGeom>
          <a:solidFill>
            <a:srgbClr val="2D6E69"/>
          </a:solidFill>
          <a:ln>
            <a:solidFill>
              <a:srgbClr val="2D6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3867912"/>
            <a:ext cx="804672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01952" y="3886200"/>
            <a:ext cx="18288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2D6E69"/>
                </a:solidFill>
                <a:latin typeface="PingFang HK"/>
              </a:rPr>
              <a:t>導修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3886200"/>
            <a:ext cx="72237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19232D"/>
                </a:solidFill>
                <a:latin typeface="PingFang HK"/>
              </a:rPr>
              <a:t>學生報告、細讀與比較討論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70432" y="4672584"/>
            <a:ext cx="64008" cy="420624"/>
          </a:xfrm>
          <a:prstGeom prst="rect">
            <a:avLst/>
          </a:prstGeom>
          <a:solidFill>
            <a:srgbClr val="D5D0C6"/>
          </a:solidFill>
          <a:ln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2" y="5093208"/>
            <a:ext cx="804672" cy="804672"/>
          </a:xfrm>
          <a:prstGeom prst="roundRect">
            <a:avLst>
              <a:gd name="adj" fmla="val 12000"/>
            </a:avLst>
          </a:prstGeom>
          <a:solidFill>
            <a:srgbClr val="7A3040"/>
          </a:solidFill>
          <a:ln>
            <a:solidFill>
              <a:srgbClr val="7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5093208"/>
            <a:ext cx="804672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01952" y="5111496"/>
            <a:ext cx="18288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7A3040"/>
                </a:solidFill>
                <a:latin typeface="PingFang HK"/>
              </a:rPr>
              <a:t>寫作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6200" y="5111496"/>
            <a:ext cx="72237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19232D"/>
                </a:solidFill>
                <a:latin typeface="PingFang HK"/>
              </a:rPr>
              <a:t>從描述出發，以引文支持論點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040"/>
          </a:solidFill>
          <a:ln>
            <a:solidFill>
              <a:srgbClr val="7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052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9232D"/>
                </a:solidFill>
                <a:latin typeface="PingFang HK"/>
              </a:rPr>
              <a:t>報告、短文與期末專題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896112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7A3040"/>
                </a:solidFill>
                <a:latin typeface="Aptos"/>
              </a:rPr>
              <a:t>WHAT YOU WILL PRODUCE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7A3040"/>
          </a:solidFill>
          <a:ln>
            <a:solidFill>
              <a:srgbClr val="7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2823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6717A"/>
                </a:solidFill>
                <a:latin typeface="PingFang HK"/>
              </a:rPr>
              <a:t>CHI 4335 · 比較文學專題：面對極端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09944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17A"/>
                </a:solidFill>
                <a:latin typeface="Aptos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89888"/>
            <a:ext cx="3456432" cy="4434840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389888"/>
            <a:ext cx="100584" cy="4434840"/>
          </a:xfrm>
          <a:prstGeom prst="rect">
            <a:avLst/>
          </a:prstGeom>
          <a:solidFill>
            <a:srgbClr val="B95131"/>
          </a:solidFill>
          <a:ln>
            <a:solidFill>
              <a:srgbClr val="B95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618488"/>
            <a:ext cx="2953511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B95131"/>
                </a:solidFill>
                <a:latin typeface="PingFang HK"/>
              </a:rPr>
              <a:t>口頭報告 · 20%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075688"/>
            <a:ext cx="2953511" cy="35935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600" b="0" i="0">
                <a:solidFill>
                  <a:srgbClr val="19232D"/>
                </a:solidFill>
                <a:latin typeface="PingFang HK"/>
              </a:rPr>
              <a:t>• 可個人或兩人小組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600" b="0" i="0">
                <a:solidFill>
                  <a:srgbClr val="19232D"/>
                </a:solidFill>
                <a:latin typeface="PingFang HK"/>
              </a:rPr>
              <a:t>• 20–30 分鐘，聚焦一部一手文本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600" b="0" i="0">
                <a:solidFill>
                  <a:srgbClr val="19232D"/>
                </a:solidFill>
                <a:latin typeface="PingFang HK"/>
              </a:rPr>
              <a:t>• 須與課程其他作品比較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600" b="0" i="0">
                <a:solidFill>
                  <a:srgbClr val="19232D"/>
                </a:solidFill>
                <a:latin typeface="PingFang HK"/>
              </a:rPr>
              <a:t>• 當週帶領導修討論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389888"/>
            <a:ext cx="3456432" cy="4434840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389888"/>
            <a:ext cx="100584" cy="4434840"/>
          </a:xfrm>
          <a:prstGeom prst="rect">
            <a:avLst/>
          </a:prstGeom>
          <a:solidFill>
            <a:srgbClr val="2D6E69"/>
          </a:solidFill>
          <a:ln>
            <a:solidFill>
              <a:srgbClr val="2D6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6864" y="1618488"/>
            <a:ext cx="2953511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D6E69"/>
                </a:solidFill>
                <a:latin typeface="PingFang HK"/>
              </a:rPr>
              <a:t>比較短文 · 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6864" y="2075688"/>
            <a:ext cx="2953511" cy="35935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600" b="0" i="0">
                <a:solidFill>
                  <a:srgbClr val="19232D"/>
                </a:solidFill>
                <a:latin typeface="PingFang HK"/>
              </a:rPr>
              <a:t>• 五個題目中選寫兩篇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600" b="0" i="0">
                <a:solidFill>
                  <a:srgbClr val="19232D"/>
                </a:solidFill>
                <a:latin typeface="PingFang HK"/>
              </a:rPr>
              <a:t>• 每篇中文 1,500–2,000 字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600" b="0" i="0">
                <a:solidFill>
                  <a:srgbClr val="19232D"/>
                </a:solidFill>
                <a:latin typeface="PingFang HK"/>
              </a:rPr>
              <a:t>• 至少納入該單元一部一手作品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600" b="0" i="0">
                <a:solidFill>
                  <a:srgbClr val="19232D"/>
                </a:solidFill>
                <a:latin typeface="PingFang HK"/>
              </a:rPr>
              <a:t>• 如交多於兩篇，只計最高兩篇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1389888"/>
            <a:ext cx="3456432" cy="4434840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9872" y="1389888"/>
            <a:ext cx="100584" cy="4434840"/>
          </a:xfrm>
          <a:prstGeom prst="rect">
            <a:avLst/>
          </a:prstGeom>
          <a:solidFill>
            <a:srgbClr val="7A3040"/>
          </a:solidFill>
          <a:ln>
            <a:solidFill>
              <a:srgbClr val="7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75904" y="1618488"/>
            <a:ext cx="2953511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7A3040"/>
                </a:solidFill>
                <a:latin typeface="PingFang HK"/>
              </a:rPr>
              <a:t>期末專題 · 40%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4" y="2075688"/>
            <a:ext cx="2953511" cy="35935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600" b="0" i="0">
                <a:solidFill>
                  <a:srgbClr val="19232D"/>
                </a:solidFill>
                <a:latin typeface="PingFang HK"/>
              </a:rPr>
              <a:t>• 不少於 3,000 字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600" b="0" i="0">
                <a:solidFill>
                  <a:srgbClr val="19232D"/>
                </a:solidFill>
                <a:latin typeface="PingFang HK"/>
              </a:rPr>
              <a:t>• 三選一：比較論文／人物訪談／敘事續篇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600" b="0" i="0">
                <a:solidFill>
                  <a:srgbClr val="19232D"/>
                </a:solidFill>
                <a:latin typeface="PingFang HK"/>
              </a:rPr>
              <a:t>• 扣緊課程核心問題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600" b="0" i="0">
                <a:solidFill>
                  <a:srgbClr val="19232D"/>
                </a:solidFill>
                <a:latin typeface="PingFang HK"/>
              </a:rPr>
              <a:t>• 經 Moodle 提交 PDF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25F7A"/>
          </a:solidFill>
          <a:ln>
            <a:solidFill>
              <a:srgbClr val="425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052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9232D"/>
                </a:solidFill>
                <a:latin typeface="PingFang HK"/>
              </a:rPr>
              <a:t>重要規定與支援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896112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425F7A"/>
                </a:solidFill>
                <a:latin typeface="Aptos"/>
              </a:rPr>
              <a:t>POLICIES AND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425F7A"/>
          </a:solidFill>
          <a:ln>
            <a:solidFill>
              <a:srgbClr val="425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2823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6717A"/>
                </a:solidFill>
                <a:latin typeface="PingFang HK"/>
              </a:rPr>
              <a:t>CHI 4335 · 比較文學專題：面對極端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09944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17A"/>
                </a:solidFill>
                <a:latin typeface="Aptos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89888"/>
            <a:ext cx="5376672" cy="1947672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389888"/>
            <a:ext cx="100584" cy="1947672"/>
          </a:xfrm>
          <a:prstGeom prst="rect">
            <a:avLst/>
          </a:prstGeom>
          <a:solidFill>
            <a:srgbClr val="425F7A"/>
          </a:solidFill>
          <a:ln>
            <a:solidFill>
              <a:srgbClr val="425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618488"/>
            <a:ext cx="48737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425F7A"/>
                </a:solidFill>
                <a:latin typeface="PingFang HK"/>
              </a:rPr>
              <a:t>語言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075688"/>
            <a:ext cx="4873752" cy="11064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550" b="0" i="0">
                <a:solidFill>
                  <a:srgbClr val="19232D"/>
                </a:solidFill>
                <a:latin typeface="PingFang HK"/>
              </a:rPr>
              <a:t>• 全程普通話授課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550" b="0" i="0">
                <a:solidFill>
                  <a:srgbClr val="19232D"/>
                </a:solidFill>
                <a:latin typeface="PingFang HK"/>
              </a:rPr>
              <a:t>• 一手文本為中文；部分理論文本為英文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550" b="0" i="0">
                <a:solidFill>
                  <a:srgbClr val="19232D"/>
                </a:solidFill>
                <a:latin typeface="PingFang HK"/>
              </a:rPr>
              <a:t>• 評核作業以中文提交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389888"/>
            <a:ext cx="5376672" cy="1947672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0488" y="1389888"/>
            <a:ext cx="100584" cy="1947672"/>
          </a:xfrm>
          <a:prstGeom prst="rect">
            <a:avLst/>
          </a:prstGeom>
          <a:solidFill>
            <a:srgbClr val="2D6E69"/>
          </a:solidFill>
          <a:ln>
            <a:solidFill>
              <a:srgbClr val="2D6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618488"/>
            <a:ext cx="48737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D6E69"/>
                </a:solidFill>
                <a:latin typeface="PingFang HK"/>
              </a:rPr>
              <a:t>人工智能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075688"/>
            <a:ext cx="4873752" cy="11064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550" b="0" i="0">
                <a:solidFill>
                  <a:srgbClr val="19232D"/>
                </a:solidFill>
                <a:latin typeface="PingFang HK"/>
              </a:rPr>
              <a:t>• 可以使用，但必須說明工具與用途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550" b="0" i="0">
                <a:solidFill>
                  <a:srgbClr val="19232D"/>
                </a:solidFill>
                <a:latin typeface="PingFang HK"/>
              </a:rPr>
              <a:t>• 不得照錄或只表面修改 AI 生成內容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3785615"/>
            <a:ext cx="5376672" cy="1947672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" y="3785615"/>
            <a:ext cx="100584" cy="1947672"/>
          </a:xfrm>
          <a:prstGeom prst="rect">
            <a:avLst/>
          </a:prstGeom>
          <a:solidFill>
            <a:srgbClr val="B95131"/>
          </a:solidFill>
          <a:ln>
            <a:solidFill>
              <a:srgbClr val="B95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4014215"/>
            <a:ext cx="48737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B95131"/>
                </a:solidFill>
                <a:latin typeface="PingFang HK"/>
              </a:rPr>
              <a:t>出席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4471416"/>
            <a:ext cx="4873752" cy="11064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550" b="0" i="0">
                <a:solidFill>
                  <a:srgbClr val="19232D"/>
                </a:solidFill>
                <a:latin typeface="PingFang HK"/>
              </a:rPr>
              <a:t>• 一次無故缺席不計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550" b="0" i="0">
                <a:solidFill>
                  <a:srgbClr val="19232D"/>
                </a:solidFill>
                <a:latin typeface="PingFang HK"/>
              </a:rPr>
              <a:t>• 之後每次扣參與分的 10%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550" b="0" i="0">
                <a:solidFill>
                  <a:srgbClr val="19232D"/>
                </a:solidFill>
                <a:latin typeface="PingFang HK"/>
              </a:rPr>
              <a:t>• 準時並完成課前準備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0488" y="3785615"/>
            <a:ext cx="5376672" cy="1947672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0488" y="3785615"/>
            <a:ext cx="100584" cy="1947672"/>
          </a:xfrm>
          <a:prstGeom prst="rect">
            <a:avLst/>
          </a:prstGeom>
          <a:solidFill>
            <a:srgbClr val="7A3040"/>
          </a:solidFill>
          <a:ln>
            <a:solidFill>
              <a:srgbClr val="7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014215"/>
            <a:ext cx="48737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7A3040"/>
                </a:solidFill>
                <a:latin typeface="PingFang HK"/>
              </a:rPr>
              <a:t>內容警示與支援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471416"/>
            <a:ext cx="4873752" cy="11064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550" b="0" i="0">
                <a:solidFill>
                  <a:srgbClr val="19232D"/>
                </a:solidFill>
                <a:latin typeface="PingFang HK"/>
              </a:rPr>
              <a:t>• 課程涉及暴力、創傷與苦難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550" b="0" i="0">
                <a:solidFill>
                  <a:srgbClr val="19232D"/>
                </a:solidFill>
                <a:latin typeface="PingFang HK"/>
              </a:rPr>
              <a:t>• 若材料造成困擾，請與教師商量替代安排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9128"/>
          </a:solidFill>
          <a:ln>
            <a:solidFill>
              <a:srgbClr val="C89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052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9232D"/>
                </a:solidFill>
                <a:latin typeface="PingFang HK"/>
              </a:rPr>
              <a:t>十三週路線圖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896112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C89128"/>
                </a:solidFill>
                <a:latin typeface="Aptos"/>
              </a:rPr>
              <a:t>THE COURSE ARC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C89128"/>
          </a:solidFill>
          <a:ln>
            <a:solidFill>
              <a:srgbClr val="C89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2823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6717A"/>
                </a:solidFill>
                <a:latin typeface="PingFang HK"/>
              </a:rPr>
              <a:t>CHI 4335 · 比較文學專題：面對極端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09944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17A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335024"/>
            <a:ext cx="1353312" cy="804672"/>
          </a:xfrm>
          <a:prstGeom prst="roundRect">
            <a:avLst>
              <a:gd name="adj" fmla="val 12000"/>
            </a:avLst>
          </a:prstGeom>
          <a:solidFill>
            <a:srgbClr val="B95131"/>
          </a:solidFill>
          <a:ln>
            <a:solidFill>
              <a:srgbClr val="B95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335024"/>
            <a:ext cx="1353312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ingFang HK"/>
              </a:rPr>
              <a:t>第 1–5 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87168" y="1353312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B95131"/>
                </a:solidFill>
                <a:latin typeface="PingFang HK"/>
              </a:rPr>
              <a:t>觀看、見證與集中營經驗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1353312"/>
            <a:ext cx="5532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9232D"/>
                </a:solidFill>
                <a:latin typeface="PingFang HK"/>
              </a:rPr>
              <a:t>旁觀之痛苦 · 大屠殺 · 精神抵抗 · 感官自動化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569464"/>
            <a:ext cx="1353312" cy="804672"/>
          </a:xfrm>
          <a:prstGeom prst="roundRect">
            <a:avLst>
              <a:gd name="adj" fmla="val 12000"/>
            </a:avLst>
          </a:prstGeom>
          <a:solidFill>
            <a:srgbClr val="2D6E69"/>
          </a:solidFill>
          <a:ln>
            <a:solidFill>
              <a:srgbClr val="2D6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569464"/>
            <a:ext cx="1353312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ingFang HK"/>
              </a:rPr>
              <a:t>第 6–8 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7168" y="2587752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2D6E69"/>
                </a:solidFill>
                <a:latin typeface="PingFang HK"/>
              </a:rPr>
              <a:t>創傷：敘事、社會與戰爭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2587752"/>
            <a:ext cx="5532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9232D"/>
                </a:solidFill>
                <a:latin typeface="PingFang HK"/>
              </a:rPr>
              <a:t>時間性 · 文化創傷 · 認知與情感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803904"/>
            <a:ext cx="1353312" cy="804672"/>
          </a:xfrm>
          <a:prstGeom prst="roundRect">
            <a:avLst>
              <a:gd name="adj" fmla="val 12000"/>
            </a:avLst>
          </a:prstGeom>
          <a:solidFill>
            <a:srgbClr val="7A3040"/>
          </a:solidFill>
          <a:ln>
            <a:solidFill>
              <a:srgbClr val="7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03904"/>
            <a:ext cx="1353312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ingFang HK"/>
              </a:rPr>
              <a:t>第 9–12 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87168" y="3822191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7A3040"/>
                </a:solidFill>
                <a:latin typeface="PingFang HK"/>
              </a:rPr>
              <a:t>暴力的形式與政治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3822191"/>
            <a:ext cx="5532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9232D"/>
                </a:solidFill>
                <a:latin typeface="PingFang HK"/>
              </a:rPr>
              <a:t>英雄／日常 · 崇高 · 性別暴力 · 種族暴力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038344"/>
            <a:ext cx="1353312" cy="804672"/>
          </a:xfrm>
          <a:prstGeom prst="roundRect">
            <a:avLst>
              <a:gd name="adj" fmla="val 12000"/>
            </a:avLst>
          </a:prstGeom>
          <a:solidFill>
            <a:srgbClr val="C89128"/>
          </a:solidFill>
          <a:ln>
            <a:solidFill>
              <a:srgbClr val="C89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038344"/>
            <a:ext cx="1353312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PingFang HK"/>
              </a:rPr>
              <a:t>第 13 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87168" y="5056632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C89128"/>
                </a:solidFill>
                <a:latin typeface="PingFang HK"/>
              </a:rPr>
              <a:t>走向救贖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5056632"/>
            <a:ext cx="5532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9232D"/>
                </a:solidFill>
                <a:latin typeface="PingFang HK"/>
              </a:rPr>
              <a:t>歷史、記憶與重新開始的可能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25F7A"/>
          </a:solidFill>
          <a:ln>
            <a:solidFill>
              <a:srgbClr val="425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0352" y="457200"/>
            <a:ext cx="1078992" cy="859536"/>
          </a:xfrm>
          <a:prstGeom prst="roundRect">
            <a:avLst>
              <a:gd name="adj" fmla="val 12000"/>
            </a:avLst>
          </a:prstGeom>
          <a:solidFill>
            <a:srgbClr val="425F7A"/>
          </a:solidFill>
          <a:ln>
            <a:solidFill>
              <a:srgbClr val="425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57200"/>
            <a:ext cx="1078992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Aptos"/>
              </a:rPr>
              <a:t>W01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47088" y="420624"/>
            <a:ext cx="69494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9232D"/>
                </a:solidFill>
                <a:latin typeface="PingFang HK"/>
              </a:rPr>
              <a:t>導論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65376" y="914400"/>
            <a:ext cx="7132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425F7A"/>
                </a:solidFill>
                <a:latin typeface="Aptos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621792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6717A"/>
                </a:solidFill>
                <a:latin typeface="PingFang HK"/>
              </a:rPr>
              <a:t>講座 9月1日  ·  導修 9月3日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600200"/>
            <a:ext cx="3657600" cy="4315968"/>
          </a:xfrm>
          <a:prstGeom prst="roundRect">
            <a:avLst>
              <a:gd name="adj" fmla="val 12000"/>
            </a:avLst>
          </a:prstGeom>
          <a:solidFill>
            <a:srgbClr val="DDE5ED"/>
          </a:solidFill>
          <a:ln>
            <a:solidFill>
              <a:srgbClr val="DD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65376"/>
            <a:ext cx="2971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425F7A"/>
                </a:solidFill>
                <a:latin typeface="PingFang HK"/>
              </a:rPr>
              <a:t>核心問題 · 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468880"/>
            <a:ext cx="2999232" cy="2578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1800"/>
              </a:spcAft>
            </a:pPr>
            <a:r>
              <a:rPr sz="1800" b="0" i="0">
                <a:solidFill>
                  <a:srgbClr val="19232D"/>
                </a:solidFill>
                <a:latin typeface="PingFang HK"/>
              </a:rPr>
              <a:t>01  何謂「極端」？</a:t>
            </a:r>
          </a:p>
          <a:p>
            <a:pPr algn="l">
              <a:lnSpc>
                <a:spcPct val="106000"/>
              </a:lnSpc>
              <a:spcAft>
                <a:spcPts val="1800"/>
              </a:spcAft>
            </a:pPr>
            <a:r>
              <a:rPr sz="1800" b="0" i="0">
                <a:solidFill>
                  <a:srgbClr val="19232D"/>
                </a:solidFill>
                <a:latin typeface="PingFang HK"/>
              </a:rPr>
              <a:t>02  如何精確描述，而不急於詮釋？</a:t>
            </a:r>
          </a:p>
          <a:p>
            <a:pPr algn="l">
              <a:lnSpc>
                <a:spcPct val="106000"/>
              </a:lnSpc>
              <a:spcAft>
                <a:spcPts val="1800"/>
              </a:spcAft>
            </a:pPr>
            <a:r>
              <a:rPr sz="1800" b="0" i="0">
                <a:solidFill>
                  <a:srgbClr val="19232D"/>
                </a:solidFill>
                <a:latin typeface="PingFang HK"/>
              </a:rPr>
              <a:t>03  課程文本、要求與評核概覽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53712" y="1600200"/>
            <a:ext cx="7022592" cy="1993392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37176" y="1865376"/>
            <a:ext cx="6217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425F7A"/>
                </a:solidFill>
                <a:latin typeface="PingFang HK"/>
              </a:rPr>
              <a:t>講座閱讀 · LECTURE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37176" y="2322576"/>
            <a:ext cx="6291072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650" b="0" i="0">
                <a:solidFill>
                  <a:srgbClr val="19232D"/>
                </a:solidFill>
                <a:latin typeface="PingFang HK"/>
              </a:rPr>
              <a:t>• 文學中的極端：核心概念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650" b="0" i="0">
                <a:solidFill>
                  <a:srgbClr val="19232D"/>
                </a:solidFill>
                <a:latin typeface="PingFang HK"/>
              </a:rPr>
              <a:t>• 課程目標與文本概覽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53712" y="3822191"/>
            <a:ext cx="7022592" cy="1344168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37176" y="4087368"/>
            <a:ext cx="6217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425F7A"/>
                </a:solidFill>
                <a:latin typeface="PingFang HK"/>
              </a:rPr>
              <a:t>導修文本 · TUTORIAL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37176" y="4507992"/>
            <a:ext cx="629107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650" b="0" i="0">
                <a:solidFill>
                  <a:srgbClr val="19232D"/>
                </a:solidFill>
                <a:latin typeface="PingFang HK"/>
              </a:rPr>
              <a:t>• 課程要求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650" b="0" i="0">
                <a:solidFill>
                  <a:srgbClr val="19232D"/>
                </a:solidFill>
                <a:latin typeface="PingFang HK"/>
              </a:rPr>
              <a:t>• 作業與報告說明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425F7A"/>
          </a:solidFill>
          <a:ln>
            <a:solidFill>
              <a:srgbClr val="425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642823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6717A"/>
                </a:solidFill>
                <a:latin typeface="PingFang HK"/>
              </a:rPr>
              <a:t>CHI 4335 · 比較文學專題：面對極端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09944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17A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95131"/>
          </a:solidFill>
          <a:ln>
            <a:solidFill>
              <a:srgbClr val="B95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0352" y="457200"/>
            <a:ext cx="1078992" cy="859536"/>
          </a:xfrm>
          <a:prstGeom prst="roundRect">
            <a:avLst>
              <a:gd name="adj" fmla="val 12000"/>
            </a:avLst>
          </a:prstGeom>
          <a:solidFill>
            <a:srgbClr val="B95131"/>
          </a:solidFill>
          <a:ln>
            <a:solidFill>
              <a:srgbClr val="B95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57200"/>
            <a:ext cx="1078992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Aptos"/>
              </a:rPr>
              <a:t>W02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47088" y="420624"/>
            <a:ext cx="69494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9232D"/>
                </a:solidFill>
                <a:latin typeface="PingFang HK"/>
              </a:rPr>
              <a:t>旁觀他人之痛苦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65376" y="914400"/>
            <a:ext cx="7132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B95131"/>
                </a:solidFill>
                <a:latin typeface="Aptos"/>
              </a:rPr>
              <a:t>Regarding the Pain of Others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621792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6717A"/>
                </a:solidFill>
                <a:latin typeface="PingFang HK"/>
              </a:rPr>
              <a:t>講座 9月8日  ·  導修 9月10日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600200"/>
            <a:ext cx="3657600" cy="4315968"/>
          </a:xfrm>
          <a:prstGeom prst="roundRect">
            <a:avLst>
              <a:gd name="adj" fmla="val 12000"/>
            </a:avLst>
          </a:prstGeom>
          <a:solidFill>
            <a:srgbClr val="F1DED4"/>
          </a:solidFill>
          <a:ln>
            <a:solidFill>
              <a:srgbClr val="F1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65376"/>
            <a:ext cx="2971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B95131"/>
                </a:solidFill>
                <a:latin typeface="PingFang HK"/>
              </a:rPr>
              <a:t>核心問題 · 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468880"/>
            <a:ext cx="2999232" cy="2578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1800"/>
              </a:spcAft>
            </a:pPr>
            <a:r>
              <a:rPr sz="1800" b="0" i="0">
                <a:solidFill>
                  <a:srgbClr val="19232D"/>
                </a:solidFill>
                <a:latin typeface="PingFang HK"/>
              </a:rPr>
              <a:t>01  觀看苦難的倫理</a:t>
            </a:r>
          </a:p>
          <a:p>
            <a:pPr algn="l">
              <a:lnSpc>
                <a:spcPct val="106000"/>
              </a:lnSpc>
              <a:spcAft>
                <a:spcPts val="1800"/>
              </a:spcAft>
            </a:pPr>
            <a:r>
              <a:rPr sz="1800" b="0" i="0">
                <a:solidFill>
                  <a:srgbClr val="19232D"/>
                </a:solidFill>
                <a:latin typeface="PingFang HK"/>
              </a:rPr>
              <a:t>02  圖像、敘事與同情</a:t>
            </a:r>
          </a:p>
          <a:p>
            <a:pPr algn="l">
              <a:lnSpc>
                <a:spcPct val="106000"/>
              </a:lnSpc>
              <a:spcAft>
                <a:spcPts val="1800"/>
              </a:spcAft>
            </a:pPr>
            <a:r>
              <a:rPr sz="1800" b="0" i="0">
                <a:solidFill>
                  <a:srgbClr val="19232D"/>
                </a:solidFill>
                <a:latin typeface="PingFang HK"/>
              </a:rPr>
              <a:t>03  受害者如何被再現？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53712" y="1600200"/>
            <a:ext cx="7022592" cy="1993392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37176" y="1865376"/>
            <a:ext cx="6217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B95131"/>
                </a:solidFill>
                <a:latin typeface="PingFang HK"/>
              </a:rPr>
              <a:t>講座閱讀 · LECTURE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37176" y="2322576"/>
            <a:ext cx="6291072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650" b="0" i="0">
                <a:solidFill>
                  <a:srgbClr val="19232D"/>
                </a:solidFill>
                <a:latin typeface="PingFang HK"/>
              </a:rPr>
              <a:t>• 蘇珊·桑塔格：《旁觀他人之痛苦》第三、六章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650" b="0" i="0">
                <a:solidFill>
                  <a:srgbClr val="19232D"/>
                </a:solidFill>
                <a:latin typeface="PingFang HK"/>
              </a:rPr>
              <a:t>• 魯迅：〈祝福〉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53712" y="3822191"/>
            <a:ext cx="7022592" cy="1344168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37176" y="4087368"/>
            <a:ext cx="6217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B95131"/>
                </a:solidFill>
                <a:latin typeface="PingFang HK"/>
              </a:rPr>
              <a:t>導修文本 · TUTORIAL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37176" y="4507992"/>
            <a:ext cx="629107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650" b="0" i="0">
                <a:solidFill>
                  <a:srgbClr val="19232D"/>
                </a:solidFill>
                <a:latin typeface="PingFang HK"/>
              </a:rPr>
              <a:t>• 白樺：《苦戀》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B95131"/>
          </a:solidFill>
          <a:ln>
            <a:solidFill>
              <a:srgbClr val="B95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642823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6717A"/>
                </a:solidFill>
                <a:latin typeface="PingFang HK"/>
              </a:rPr>
              <a:t>CHI 4335 · 比較文學專題：面對極端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09944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17A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95131"/>
          </a:solidFill>
          <a:ln>
            <a:solidFill>
              <a:srgbClr val="B95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0352" y="457200"/>
            <a:ext cx="1078992" cy="859536"/>
          </a:xfrm>
          <a:prstGeom prst="roundRect">
            <a:avLst>
              <a:gd name="adj" fmla="val 12000"/>
            </a:avLst>
          </a:prstGeom>
          <a:solidFill>
            <a:srgbClr val="B95131"/>
          </a:solidFill>
          <a:ln>
            <a:solidFill>
              <a:srgbClr val="B95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57200"/>
            <a:ext cx="1078992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Aptos"/>
              </a:rPr>
              <a:t>W03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47088" y="420624"/>
            <a:ext cx="69494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9232D"/>
                </a:solidFill>
                <a:latin typeface="PingFang HK"/>
              </a:rPr>
              <a:t>書寫大屠殺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65376" y="914400"/>
            <a:ext cx="7132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B95131"/>
                </a:solidFill>
                <a:latin typeface="Aptos"/>
              </a:rPr>
              <a:t>Writing the Shoah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621792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6717A"/>
                </a:solidFill>
                <a:latin typeface="PingFang HK"/>
              </a:rPr>
              <a:t>講座 9月15日  ·  導修 9月17日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600200"/>
            <a:ext cx="3657600" cy="4315968"/>
          </a:xfrm>
          <a:prstGeom prst="roundRect">
            <a:avLst>
              <a:gd name="adj" fmla="val 12000"/>
            </a:avLst>
          </a:prstGeom>
          <a:solidFill>
            <a:srgbClr val="F1DED4"/>
          </a:solidFill>
          <a:ln>
            <a:solidFill>
              <a:srgbClr val="F1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65376"/>
            <a:ext cx="2971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B95131"/>
                </a:solidFill>
                <a:latin typeface="PingFang HK"/>
              </a:rPr>
              <a:t>核心問題 · 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468880"/>
            <a:ext cx="2999232" cy="2578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1800"/>
              </a:spcAft>
            </a:pPr>
            <a:r>
              <a:rPr sz="1800" b="0" i="0">
                <a:solidFill>
                  <a:srgbClr val="19232D"/>
                </a:solidFill>
                <a:latin typeface="PingFang HK"/>
              </a:rPr>
              <a:t>01  見證與不可言說</a:t>
            </a:r>
          </a:p>
          <a:p>
            <a:pPr algn="l">
              <a:lnSpc>
                <a:spcPct val="106000"/>
              </a:lnSpc>
              <a:spcAft>
                <a:spcPts val="1800"/>
              </a:spcAft>
            </a:pPr>
            <a:r>
              <a:rPr sz="1800" b="0" i="0">
                <a:solidFill>
                  <a:srgbClr val="19232D"/>
                </a:solidFill>
                <a:latin typeface="PingFang HK"/>
              </a:rPr>
              <a:t>02  早期大屠殺書寫的語境</a:t>
            </a:r>
          </a:p>
          <a:p>
            <a:pPr algn="l">
              <a:lnSpc>
                <a:spcPct val="106000"/>
              </a:lnSpc>
              <a:spcAft>
                <a:spcPts val="1800"/>
              </a:spcAft>
            </a:pPr>
            <a:r>
              <a:rPr sz="1800" b="0" i="0">
                <a:solidFill>
                  <a:srgbClr val="19232D"/>
                </a:solidFill>
                <a:latin typeface="PingFang HK"/>
              </a:rPr>
              <a:t>03  記憶、沉默與敘事責任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53712" y="1600200"/>
            <a:ext cx="7022592" cy="1993392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37176" y="1865376"/>
            <a:ext cx="6217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B95131"/>
                </a:solidFill>
                <a:latin typeface="PingFang HK"/>
              </a:rPr>
              <a:t>講座閱讀 · LECTURE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37176" y="2322576"/>
            <a:ext cx="6291072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650" b="0" i="0">
                <a:solidFill>
                  <a:srgbClr val="19232D"/>
                </a:solidFill>
                <a:latin typeface="PingFang HK"/>
              </a:rPr>
              <a:t>• 房春光：〈寫還是不寫，這是個問題〉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53712" y="3822191"/>
            <a:ext cx="7022592" cy="1344168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37176" y="4087368"/>
            <a:ext cx="6217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B95131"/>
                </a:solidFill>
                <a:latin typeface="PingFang HK"/>
              </a:rPr>
              <a:t>導修文本 · TUTORIAL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37176" y="4507992"/>
            <a:ext cx="629107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650" b="0" i="0">
                <a:solidFill>
                  <a:srgbClr val="19232D"/>
                </a:solidFill>
                <a:latin typeface="PingFang HK"/>
              </a:rPr>
              <a:t>• 埃利·維瑟爾：《夜》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53712" y="5394960"/>
            <a:ext cx="7022592" cy="530352"/>
          </a:xfrm>
          <a:prstGeom prst="roundRect">
            <a:avLst>
              <a:gd name="adj" fmla="val 12000"/>
            </a:avLst>
          </a:prstGeom>
          <a:solidFill>
            <a:srgbClr val="B95131"/>
          </a:solidFill>
          <a:ln>
            <a:solidFill>
              <a:srgbClr val="B95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18888" y="5394960"/>
            <a:ext cx="64922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FFFFFF"/>
                </a:solidFill>
                <a:latin typeface="PingFang HK"/>
              </a:rPr>
              <a:t>截止  ·  9月21日 9:00 am：比較短文（第2、3週）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B95131"/>
          </a:solidFill>
          <a:ln>
            <a:solidFill>
              <a:srgbClr val="B95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642823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6717A"/>
                </a:solidFill>
                <a:latin typeface="PingFang HK"/>
              </a:rPr>
              <a:t>CHI 4335 · 比較文學專題：面對極端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09944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17A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95131"/>
          </a:solidFill>
          <a:ln>
            <a:solidFill>
              <a:srgbClr val="B95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0352" y="457200"/>
            <a:ext cx="1078992" cy="859536"/>
          </a:xfrm>
          <a:prstGeom prst="roundRect">
            <a:avLst>
              <a:gd name="adj" fmla="val 12000"/>
            </a:avLst>
          </a:prstGeom>
          <a:solidFill>
            <a:srgbClr val="B95131"/>
          </a:solidFill>
          <a:ln>
            <a:solidFill>
              <a:srgbClr val="B95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57200"/>
            <a:ext cx="1078992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Aptos"/>
              </a:rPr>
              <a:t>W04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47088" y="420624"/>
            <a:ext cx="69494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9232D"/>
                </a:solidFill>
                <a:latin typeface="PingFang HK"/>
              </a:rPr>
              <a:t>勞改營中的精神抵抗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65376" y="914400"/>
            <a:ext cx="7132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B95131"/>
                </a:solidFill>
                <a:latin typeface="Aptos"/>
              </a:rPr>
              <a:t>Spiritual Resistance in a Labor Camp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621792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6717A"/>
                </a:solidFill>
                <a:latin typeface="PingFang HK"/>
              </a:rPr>
              <a:t>講座 9月22日  ·  導修 9月24日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600200"/>
            <a:ext cx="3657600" cy="4315968"/>
          </a:xfrm>
          <a:prstGeom prst="roundRect">
            <a:avLst>
              <a:gd name="adj" fmla="val 12000"/>
            </a:avLst>
          </a:prstGeom>
          <a:solidFill>
            <a:srgbClr val="F1DED4"/>
          </a:solidFill>
          <a:ln>
            <a:solidFill>
              <a:srgbClr val="F1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65376"/>
            <a:ext cx="2971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B95131"/>
                </a:solidFill>
                <a:latin typeface="PingFang HK"/>
              </a:rPr>
              <a:t>核心問題 · 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468880"/>
            <a:ext cx="2999232" cy="2578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1800"/>
              </a:spcAft>
            </a:pPr>
            <a:r>
              <a:rPr sz="1800" b="0" i="0">
                <a:solidFill>
                  <a:srgbClr val="19232D"/>
                </a:solidFill>
                <a:latin typeface="PingFang HK"/>
              </a:rPr>
              <a:t>01  極端環境中的道德生活</a:t>
            </a:r>
          </a:p>
          <a:p>
            <a:pPr algn="l">
              <a:lnSpc>
                <a:spcPct val="106000"/>
              </a:lnSpc>
              <a:spcAft>
                <a:spcPts val="1800"/>
              </a:spcAft>
            </a:pPr>
            <a:r>
              <a:rPr sz="1800" b="0" i="0">
                <a:solidFill>
                  <a:srgbClr val="19232D"/>
                </a:solidFill>
                <a:latin typeface="PingFang HK"/>
              </a:rPr>
              <a:t>02  思想、尊嚴與精神自由</a:t>
            </a:r>
          </a:p>
          <a:p>
            <a:pPr algn="l">
              <a:lnSpc>
                <a:spcPct val="106000"/>
              </a:lnSpc>
              <a:spcAft>
                <a:spcPts val="1800"/>
              </a:spcAft>
            </a:pPr>
            <a:r>
              <a:rPr sz="1800" b="0" i="0">
                <a:solidFill>
                  <a:srgbClr val="19232D"/>
                </a:solidFill>
                <a:latin typeface="PingFang HK"/>
              </a:rPr>
              <a:t>03  個人如何抵抗制度？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53712" y="1600200"/>
            <a:ext cx="7022592" cy="1993392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37176" y="1865376"/>
            <a:ext cx="6217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B95131"/>
                </a:solidFill>
                <a:latin typeface="PingFang HK"/>
              </a:rPr>
              <a:t>講座閱讀 · LECTURE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37176" y="2322576"/>
            <a:ext cx="6291072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650" b="0" i="0">
                <a:solidFill>
                  <a:srgbClr val="19232D"/>
                </a:solidFill>
                <a:latin typeface="PingFang HK"/>
              </a:rPr>
              <a:t>• Tzvetan Todorov, “The Life of the Mind”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650" b="0" i="0">
                <a:solidFill>
                  <a:srgbClr val="19232D"/>
                </a:solidFill>
                <a:latin typeface="PingFang HK"/>
              </a:rPr>
              <a:t>• 《Facing the Extreme》, pp. 91–118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53712" y="3822191"/>
            <a:ext cx="7022592" cy="1344168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37176" y="4087368"/>
            <a:ext cx="6217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B95131"/>
                </a:solidFill>
                <a:latin typeface="PingFang HK"/>
              </a:rPr>
              <a:t>導修文本 · TUTORIAL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37176" y="4507992"/>
            <a:ext cx="629107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650" b="0" i="0">
                <a:solidFill>
                  <a:srgbClr val="19232D"/>
                </a:solidFill>
                <a:latin typeface="PingFang HK"/>
              </a:rPr>
              <a:t>• 高爾泰：《尋找家園》（節選）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B95131"/>
          </a:solidFill>
          <a:ln>
            <a:solidFill>
              <a:srgbClr val="B95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642823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6717A"/>
                </a:solidFill>
                <a:latin typeface="PingFang HK"/>
              </a:rPr>
              <a:t>CHI 4335 · 比較文學專題：面對極端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09944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17A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95131"/>
          </a:solidFill>
          <a:ln>
            <a:solidFill>
              <a:srgbClr val="B95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0352" y="457200"/>
            <a:ext cx="1078992" cy="859536"/>
          </a:xfrm>
          <a:prstGeom prst="roundRect">
            <a:avLst>
              <a:gd name="adj" fmla="val 12000"/>
            </a:avLst>
          </a:prstGeom>
          <a:solidFill>
            <a:srgbClr val="B95131"/>
          </a:solidFill>
          <a:ln>
            <a:solidFill>
              <a:srgbClr val="B95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57200"/>
            <a:ext cx="1078992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Aptos"/>
              </a:rPr>
              <a:t>W05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47088" y="420624"/>
            <a:ext cx="69494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9232D"/>
                </a:solidFill>
                <a:latin typeface="PingFang HK"/>
              </a:rPr>
              <a:t>感官的自動化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65376" y="914400"/>
            <a:ext cx="7132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B95131"/>
                </a:solidFill>
                <a:latin typeface="Aptos"/>
              </a:rPr>
              <a:t>The Automation of the Senses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621792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6717A"/>
                </a:solidFill>
                <a:latin typeface="PingFang HK"/>
              </a:rPr>
              <a:t>講座 9月29日  ·  10月1日導修停課（國慶日）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600200"/>
            <a:ext cx="3657600" cy="4315968"/>
          </a:xfrm>
          <a:prstGeom prst="roundRect">
            <a:avLst>
              <a:gd name="adj" fmla="val 12000"/>
            </a:avLst>
          </a:prstGeom>
          <a:solidFill>
            <a:srgbClr val="F1DED4"/>
          </a:solidFill>
          <a:ln>
            <a:solidFill>
              <a:srgbClr val="F1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65376"/>
            <a:ext cx="2971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B95131"/>
                </a:solidFill>
                <a:latin typeface="PingFang HK"/>
              </a:rPr>
              <a:t>核心問題 · 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468880"/>
            <a:ext cx="2999232" cy="2578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1800"/>
              </a:spcAft>
            </a:pPr>
            <a:r>
              <a:rPr sz="1800" b="0" i="0">
                <a:solidFill>
                  <a:srgbClr val="19232D"/>
                </a:solidFill>
                <a:latin typeface="PingFang HK"/>
              </a:rPr>
              <a:t>01  強迫勞動與去人性化</a:t>
            </a:r>
          </a:p>
          <a:p>
            <a:pPr algn="l">
              <a:lnSpc>
                <a:spcPct val="106000"/>
              </a:lnSpc>
              <a:spcAft>
                <a:spcPts val="1800"/>
              </a:spcAft>
            </a:pPr>
            <a:r>
              <a:rPr sz="1800" b="0" i="0">
                <a:solidFill>
                  <a:srgbClr val="19232D"/>
                </a:solidFill>
                <a:latin typeface="PingFang HK"/>
              </a:rPr>
              <a:t>02  身體如何適應極端環境？</a:t>
            </a:r>
          </a:p>
          <a:p>
            <a:pPr algn="l">
              <a:lnSpc>
                <a:spcPct val="106000"/>
              </a:lnSpc>
              <a:spcAft>
                <a:spcPts val="1800"/>
              </a:spcAft>
            </a:pPr>
            <a:r>
              <a:rPr sz="1800" b="0" i="0">
                <a:solidFill>
                  <a:srgbClr val="19232D"/>
                </a:solidFill>
                <a:latin typeface="PingFang HK"/>
              </a:rPr>
              <a:t>03  冷漠是否也是生存方式？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53712" y="1600200"/>
            <a:ext cx="7022592" cy="1993392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37176" y="1865376"/>
            <a:ext cx="6217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B95131"/>
                </a:solidFill>
                <a:latin typeface="PingFang HK"/>
              </a:rPr>
              <a:t>講座閱讀 · LECTURE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37176" y="2322576"/>
            <a:ext cx="6291072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650" b="0" i="0">
                <a:solidFill>
                  <a:srgbClr val="19232D"/>
                </a:solidFill>
                <a:latin typeface="PingFang HK"/>
              </a:rPr>
              <a:t>• 博羅夫斯基：〈女士們、先生們，請進毒氣室〉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650" b="0" i="0">
                <a:solidFill>
                  <a:srgbClr val="19232D"/>
                </a:solidFill>
                <a:latin typeface="PingFang HK"/>
              </a:rPr>
              <a:t>• 沙拉莫夫：〈手推車〉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650" b="0" i="0">
                <a:solidFill>
                  <a:srgbClr val="19232D"/>
                </a:solidFill>
                <a:latin typeface="PingFang HK"/>
              </a:rPr>
              <a:t>• 選讀：Leona Toker, “Forced Labor”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53712" y="3822191"/>
            <a:ext cx="7022592" cy="1344168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37176" y="4087368"/>
            <a:ext cx="6217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B95131"/>
                </a:solidFill>
                <a:latin typeface="PingFang HK"/>
              </a:rPr>
              <a:t>導修文本 · TUTORIAL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37176" y="4507992"/>
            <a:ext cx="629107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650" b="0" i="0">
                <a:solidFill>
                  <a:srgbClr val="19232D"/>
                </a:solidFill>
                <a:latin typeface="PingFang HK"/>
              </a:rPr>
              <a:t>• 停課（國慶日）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53712" y="5394960"/>
            <a:ext cx="7022592" cy="530352"/>
          </a:xfrm>
          <a:prstGeom prst="roundRect">
            <a:avLst>
              <a:gd name="adj" fmla="val 12000"/>
            </a:avLst>
          </a:prstGeom>
          <a:solidFill>
            <a:srgbClr val="B95131"/>
          </a:solidFill>
          <a:ln>
            <a:solidFill>
              <a:srgbClr val="B95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18888" y="5394960"/>
            <a:ext cx="64922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FFFFFF"/>
                </a:solidFill>
                <a:latin typeface="PingFang HK"/>
              </a:rPr>
              <a:t>截止  ·  10月5日 9:00 am：比較短文（第4、5週）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B95131"/>
          </a:solidFill>
          <a:ln>
            <a:solidFill>
              <a:srgbClr val="B951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642823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6717A"/>
                </a:solidFill>
                <a:latin typeface="PingFang HK"/>
              </a:rPr>
              <a:t>CHI 4335 · 比較文學專題：面對極端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09944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17A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E69"/>
          </a:solidFill>
          <a:ln>
            <a:solidFill>
              <a:srgbClr val="2D6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0352" y="457200"/>
            <a:ext cx="1078992" cy="859536"/>
          </a:xfrm>
          <a:prstGeom prst="roundRect">
            <a:avLst>
              <a:gd name="adj" fmla="val 12000"/>
            </a:avLst>
          </a:prstGeom>
          <a:solidFill>
            <a:srgbClr val="2D6E69"/>
          </a:solidFill>
          <a:ln>
            <a:solidFill>
              <a:srgbClr val="2D6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57200"/>
            <a:ext cx="1078992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Aptos"/>
              </a:rPr>
              <a:t>W06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47088" y="420624"/>
            <a:ext cx="69494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9232D"/>
                </a:solidFill>
                <a:latin typeface="PingFang HK"/>
              </a:rPr>
              <a:t>創傷與敘事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65376" y="914400"/>
            <a:ext cx="7132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2D6E69"/>
                </a:solidFill>
                <a:latin typeface="Aptos"/>
              </a:rPr>
              <a:t>Trauma and Narrative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621792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6717A"/>
                </a:solidFill>
                <a:latin typeface="PingFang HK"/>
              </a:rPr>
              <a:t>講座 10月6日  ·  導修 10月8日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600200"/>
            <a:ext cx="3657600" cy="4315968"/>
          </a:xfrm>
          <a:prstGeom prst="roundRect">
            <a:avLst>
              <a:gd name="adj" fmla="val 12000"/>
            </a:avLst>
          </a:prstGeom>
          <a:solidFill>
            <a:srgbClr val="DDEAE7"/>
          </a:solidFill>
          <a:ln>
            <a:solidFill>
              <a:srgbClr val="DD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65376"/>
            <a:ext cx="2971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D6E69"/>
                </a:solidFill>
                <a:latin typeface="PingFang HK"/>
              </a:rPr>
              <a:t>核心問題 · 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468880"/>
            <a:ext cx="2999232" cy="2578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1800"/>
              </a:spcAft>
            </a:pPr>
            <a:r>
              <a:rPr sz="1800" b="0" i="0">
                <a:solidFill>
                  <a:srgbClr val="19232D"/>
                </a:solidFill>
                <a:latin typeface="PingFang HK"/>
              </a:rPr>
              <a:t>01  創傷如何改變時間感？</a:t>
            </a:r>
          </a:p>
          <a:p>
            <a:pPr algn="l">
              <a:lnSpc>
                <a:spcPct val="106000"/>
              </a:lnSpc>
              <a:spcAft>
                <a:spcPts val="1800"/>
              </a:spcAft>
            </a:pPr>
            <a:r>
              <a:rPr sz="1800" b="0" i="0">
                <a:solidFill>
                  <a:srgbClr val="19232D"/>
                </a:solidFill>
                <a:latin typeface="PingFang HK"/>
              </a:rPr>
              <a:t>02  重複、延宕與斷裂</a:t>
            </a:r>
          </a:p>
          <a:p>
            <a:pPr algn="l">
              <a:lnSpc>
                <a:spcPct val="106000"/>
              </a:lnSpc>
              <a:spcAft>
                <a:spcPts val="1800"/>
              </a:spcAft>
            </a:pPr>
            <a:r>
              <a:rPr sz="1800" b="0" i="0">
                <a:solidFill>
                  <a:srgbClr val="19232D"/>
                </a:solidFill>
                <a:latin typeface="PingFang HK"/>
              </a:rPr>
              <a:t>03  敘事能否重建經驗？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53712" y="1600200"/>
            <a:ext cx="7022592" cy="1993392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37176" y="1865376"/>
            <a:ext cx="6217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D6E69"/>
                </a:solidFill>
                <a:latin typeface="PingFang HK"/>
              </a:rPr>
              <a:t>講座閱讀 · LECTURE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37176" y="2322576"/>
            <a:ext cx="6291072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650" b="0" i="0">
                <a:solidFill>
                  <a:srgbClr val="19232D"/>
                </a:solidFill>
                <a:latin typeface="PingFang HK"/>
              </a:rPr>
              <a:t>• Wendy O’Brien, “Telling Time”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650" b="0" i="0">
                <a:solidFill>
                  <a:srgbClr val="19232D"/>
                </a:solidFill>
                <a:latin typeface="PingFang HK"/>
              </a:rPr>
              <a:t>• Literature, Temporality and Trauma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53712" y="3822191"/>
            <a:ext cx="7022592" cy="1344168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37176" y="4087368"/>
            <a:ext cx="6217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D6E69"/>
                </a:solidFill>
                <a:latin typeface="PingFang HK"/>
              </a:rPr>
              <a:t>導修文本 · TUTORIAL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37176" y="4507992"/>
            <a:ext cx="629107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650" b="0" i="0">
                <a:solidFill>
                  <a:srgbClr val="19232D"/>
                </a:solidFill>
                <a:latin typeface="PingFang HK"/>
              </a:rPr>
              <a:t>• 張翎：《餘震》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2D6E69"/>
          </a:solidFill>
          <a:ln>
            <a:solidFill>
              <a:srgbClr val="2D6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642823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6717A"/>
                </a:solidFill>
                <a:latin typeface="PingFang HK"/>
              </a:rPr>
              <a:t>CHI 4335 · 比較文學專題：面對極端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09944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17A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E69"/>
          </a:solidFill>
          <a:ln>
            <a:solidFill>
              <a:srgbClr val="2D6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0352" y="457200"/>
            <a:ext cx="1078992" cy="859536"/>
          </a:xfrm>
          <a:prstGeom prst="roundRect">
            <a:avLst>
              <a:gd name="adj" fmla="val 12000"/>
            </a:avLst>
          </a:prstGeom>
          <a:solidFill>
            <a:srgbClr val="2D6E69"/>
          </a:solidFill>
          <a:ln>
            <a:solidFill>
              <a:srgbClr val="2D6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57200"/>
            <a:ext cx="1078992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Aptos"/>
              </a:rPr>
              <a:t>W07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47088" y="420624"/>
            <a:ext cx="69494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9232D"/>
                </a:solidFill>
                <a:latin typeface="PingFang HK"/>
              </a:rPr>
              <a:t>創傷與社會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65376" y="914400"/>
            <a:ext cx="7132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2D6E69"/>
                </a:solidFill>
                <a:latin typeface="Aptos"/>
              </a:rPr>
              <a:t>Trauma and Society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621792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6717A"/>
                </a:solidFill>
                <a:latin typeface="PingFang HK"/>
              </a:rPr>
              <a:t>講座 10月13日  ·  導修 10月15日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600200"/>
            <a:ext cx="3657600" cy="4315968"/>
          </a:xfrm>
          <a:prstGeom prst="roundRect">
            <a:avLst>
              <a:gd name="adj" fmla="val 12000"/>
            </a:avLst>
          </a:prstGeom>
          <a:solidFill>
            <a:srgbClr val="DDEAE7"/>
          </a:solidFill>
          <a:ln>
            <a:solidFill>
              <a:srgbClr val="DD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65376"/>
            <a:ext cx="2971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D6E69"/>
                </a:solidFill>
                <a:latin typeface="PingFang HK"/>
              </a:rPr>
              <a:t>核心問題 · 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468880"/>
            <a:ext cx="2999232" cy="2578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1800"/>
              </a:spcAft>
            </a:pPr>
            <a:r>
              <a:rPr sz="1800" b="0" i="0">
                <a:solidFill>
                  <a:srgbClr val="19232D"/>
                </a:solidFill>
                <a:latin typeface="PingFang HK"/>
              </a:rPr>
              <a:t>01  創傷如何成為集體敘事？</a:t>
            </a:r>
          </a:p>
          <a:p>
            <a:pPr algn="l">
              <a:lnSpc>
                <a:spcPct val="106000"/>
              </a:lnSpc>
              <a:spcAft>
                <a:spcPts val="1800"/>
              </a:spcAft>
            </a:pPr>
            <a:r>
              <a:rPr sz="1800" b="0" i="0">
                <a:solidFill>
                  <a:srgbClr val="19232D"/>
                </a:solidFill>
                <a:latin typeface="PingFang HK"/>
              </a:rPr>
              <a:t>02  記憶、認同與公共話語</a:t>
            </a:r>
          </a:p>
          <a:p>
            <a:pPr algn="l">
              <a:lnSpc>
                <a:spcPct val="106000"/>
              </a:lnSpc>
              <a:spcAft>
                <a:spcPts val="1800"/>
              </a:spcAft>
            </a:pPr>
            <a:r>
              <a:rPr sz="1800" b="0" i="0">
                <a:solidFill>
                  <a:srgbClr val="19232D"/>
                </a:solidFill>
                <a:latin typeface="PingFang HK"/>
              </a:rPr>
              <a:t>03  誰有權界定社會創傷？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53712" y="1600200"/>
            <a:ext cx="7022592" cy="1993392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37176" y="1865376"/>
            <a:ext cx="6217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D6E69"/>
                </a:solidFill>
                <a:latin typeface="PingFang HK"/>
              </a:rPr>
              <a:t>講座閱讀 · LECTURE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37176" y="2322576"/>
            <a:ext cx="6291072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650" b="0" i="0">
                <a:solidFill>
                  <a:srgbClr val="19232D"/>
                </a:solidFill>
                <a:latin typeface="PingFang HK"/>
              </a:rPr>
              <a:t>• 陶東風：〈走向建構主義的文化創傷理論〉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650" b="0" i="0">
                <a:solidFill>
                  <a:srgbClr val="19232D"/>
                </a:solidFill>
                <a:latin typeface="PingFang HK"/>
              </a:rPr>
              <a:t>• 選讀：Jeffrey C. Alexander, “Cultural Trauma”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53712" y="3822191"/>
            <a:ext cx="7022592" cy="1344168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37176" y="4087368"/>
            <a:ext cx="6217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D6E69"/>
                </a:solidFill>
                <a:latin typeface="PingFang HK"/>
              </a:rPr>
              <a:t>導修文本 · TUTORIAL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37176" y="4507992"/>
            <a:ext cx="629107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650" b="0" i="0">
                <a:solidFill>
                  <a:srgbClr val="19232D"/>
                </a:solidFill>
                <a:latin typeface="PingFang HK"/>
              </a:rPr>
              <a:t>• 韓江：《少年來了》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2D6E69"/>
          </a:solidFill>
          <a:ln>
            <a:solidFill>
              <a:srgbClr val="2D6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642823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6717A"/>
                </a:solidFill>
                <a:latin typeface="PingFang HK"/>
              </a:rPr>
              <a:t>CHI 4335 · 比較文學專題：面對極端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09944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17A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E69"/>
          </a:solidFill>
          <a:ln>
            <a:solidFill>
              <a:srgbClr val="2D6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0352" y="457200"/>
            <a:ext cx="1078992" cy="859536"/>
          </a:xfrm>
          <a:prstGeom prst="roundRect">
            <a:avLst>
              <a:gd name="adj" fmla="val 12000"/>
            </a:avLst>
          </a:prstGeom>
          <a:solidFill>
            <a:srgbClr val="2D6E69"/>
          </a:solidFill>
          <a:ln>
            <a:solidFill>
              <a:srgbClr val="2D6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57200"/>
            <a:ext cx="1078992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Aptos"/>
              </a:rPr>
              <a:t>W08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47088" y="420624"/>
            <a:ext cx="69494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9232D"/>
                </a:solidFill>
                <a:latin typeface="PingFang HK"/>
              </a:rPr>
              <a:t>創傷與戰爭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65376" y="914400"/>
            <a:ext cx="7132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2D6E69"/>
                </a:solidFill>
                <a:latin typeface="Aptos"/>
              </a:rPr>
              <a:t>Trauma and War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621792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6717A"/>
                </a:solidFill>
                <a:latin typeface="PingFang HK"/>
              </a:rPr>
              <a:t>講座 10月20日  ·  導修 10月22日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600200"/>
            <a:ext cx="3657600" cy="4315968"/>
          </a:xfrm>
          <a:prstGeom prst="roundRect">
            <a:avLst>
              <a:gd name="adj" fmla="val 12000"/>
            </a:avLst>
          </a:prstGeom>
          <a:solidFill>
            <a:srgbClr val="DDEAE7"/>
          </a:solidFill>
          <a:ln>
            <a:solidFill>
              <a:srgbClr val="DD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65376"/>
            <a:ext cx="2971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D6E69"/>
                </a:solidFill>
                <a:latin typeface="PingFang HK"/>
              </a:rPr>
              <a:t>核心問題 · 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468880"/>
            <a:ext cx="2999232" cy="2578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1800"/>
              </a:spcAft>
            </a:pPr>
            <a:r>
              <a:rPr sz="1800" b="0" i="0">
                <a:solidFill>
                  <a:srgbClr val="19232D"/>
                </a:solidFill>
                <a:latin typeface="PingFang HK"/>
              </a:rPr>
              <a:t>01  文學如何使讀者「被感動」？</a:t>
            </a:r>
          </a:p>
          <a:p>
            <a:pPr algn="l">
              <a:lnSpc>
                <a:spcPct val="106000"/>
              </a:lnSpc>
              <a:spcAft>
                <a:spcPts val="1800"/>
              </a:spcAft>
            </a:pPr>
            <a:r>
              <a:rPr sz="1800" b="0" i="0">
                <a:solidFill>
                  <a:srgbClr val="19232D"/>
                </a:solidFill>
                <a:latin typeface="PingFang HK"/>
              </a:rPr>
              <a:t>02  認知、情感與敘事</a:t>
            </a:r>
          </a:p>
          <a:p>
            <a:pPr algn="l">
              <a:lnSpc>
                <a:spcPct val="106000"/>
              </a:lnSpc>
              <a:spcAft>
                <a:spcPts val="1800"/>
              </a:spcAft>
            </a:pPr>
            <a:r>
              <a:rPr sz="1800" b="0" i="0">
                <a:solidFill>
                  <a:srgbClr val="19232D"/>
                </a:solidFill>
                <a:latin typeface="PingFang HK"/>
              </a:rPr>
              <a:t>03  戰爭記憶中的死者與生者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53712" y="1600200"/>
            <a:ext cx="7022592" cy="1993392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37176" y="1865376"/>
            <a:ext cx="6217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D6E69"/>
                </a:solidFill>
                <a:latin typeface="PingFang HK"/>
              </a:rPr>
              <a:t>講座閱讀 · LECTURE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37176" y="2322576"/>
            <a:ext cx="6291072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650" b="0" i="0">
                <a:solidFill>
                  <a:srgbClr val="19232D"/>
                </a:solidFill>
                <a:latin typeface="PingFang HK"/>
              </a:rPr>
              <a:t>• Patrick Colm Hogan, “On Being Moved”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650" b="0" i="0">
                <a:solidFill>
                  <a:srgbClr val="19232D"/>
                </a:solidFill>
                <a:latin typeface="PingFang HK"/>
              </a:rPr>
              <a:t>• Cognition and Emotion in Literature and Film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53712" y="3822191"/>
            <a:ext cx="7022592" cy="1344168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37176" y="4087368"/>
            <a:ext cx="6217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D6E69"/>
                </a:solidFill>
                <a:latin typeface="PingFang HK"/>
              </a:rPr>
              <a:t>導修文本 · TUTORIAL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37176" y="4507992"/>
            <a:ext cx="629107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650" b="0" i="0">
                <a:solidFill>
                  <a:srgbClr val="19232D"/>
                </a:solidFill>
                <a:latin typeface="PingFang HK"/>
              </a:rPr>
              <a:t>• 提姆·奧布萊恩：〈死者的生命〉</a:t>
            </a:r>
          </a:p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650" b="0" i="0">
                <a:solidFill>
                  <a:srgbClr val="19232D"/>
                </a:solidFill>
                <a:latin typeface="PingFang HK"/>
              </a:rPr>
              <a:t>• 《士兵的重負》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53712" y="5394960"/>
            <a:ext cx="7022592" cy="530352"/>
          </a:xfrm>
          <a:prstGeom prst="roundRect">
            <a:avLst>
              <a:gd name="adj" fmla="val 12000"/>
            </a:avLst>
          </a:prstGeom>
          <a:solidFill>
            <a:srgbClr val="2D6E69"/>
          </a:solidFill>
          <a:ln>
            <a:solidFill>
              <a:srgbClr val="2D6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18888" y="5394960"/>
            <a:ext cx="64922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FFFFFF"/>
                </a:solidFill>
                <a:latin typeface="PingFang HK"/>
              </a:rPr>
              <a:t>截止  ·  10月26日 9:00 am：比較短文（第6–8週）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2D6E69"/>
          </a:solidFill>
          <a:ln>
            <a:solidFill>
              <a:srgbClr val="2D6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642823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6717A"/>
                </a:solidFill>
                <a:latin typeface="PingFang HK"/>
              </a:rPr>
              <a:t>CHI 4335 · 比較文學專題：面對極端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09944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17A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040"/>
          </a:solidFill>
          <a:ln>
            <a:solidFill>
              <a:srgbClr val="7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0352" y="457200"/>
            <a:ext cx="1078992" cy="859536"/>
          </a:xfrm>
          <a:prstGeom prst="roundRect">
            <a:avLst>
              <a:gd name="adj" fmla="val 12000"/>
            </a:avLst>
          </a:prstGeom>
          <a:solidFill>
            <a:srgbClr val="7A3040"/>
          </a:solidFill>
          <a:ln>
            <a:solidFill>
              <a:srgbClr val="7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57200"/>
            <a:ext cx="1078992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Aptos"/>
              </a:rPr>
              <a:t>W09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47088" y="420624"/>
            <a:ext cx="69494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9232D"/>
                </a:solidFill>
                <a:latin typeface="PingFang HK"/>
              </a:rPr>
              <a:t>英雄與日常之間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65376" y="914400"/>
            <a:ext cx="7132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7A3040"/>
                </a:solidFill>
                <a:latin typeface="Aptos"/>
              </a:rPr>
              <a:t>Between the Heroic and the Ordinary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621792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6717A"/>
                </a:solidFill>
                <a:latin typeface="PingFang HK"/>
              </a:rPr>
              <a:t>講座 10月27日  ·  導修 10月29日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600200"/>
            <a:ext cx="3657600" cy="4315968"/>
          </a:xfrm>
          <a:prstGeom prst="roundRect">
            <a:avLst>
              <a:gd name="adj" fmla="val 12000"/>
            </a:avLst>
          </a:prstGeom>
          <a:solidFill>
            <a:srgbClr val="EADCE0"/>
          </a:solidFill>
          <a:ln>
            <a:solidFill>
              <a:srgbClr val="E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65376"/>
            <a:ext cx="2971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7A3040"/>
                </a:solidFill>
                <a:latin typeface="PingFang HK"/>
              </a:rPr>
              <a:t>核心問題 · 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468880"/>
            <a:ext cx="2999232" cy="2578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1800"/>
              </a:spcAft>
            </a:pPr>
            <a:r>
              <a:rPr sz="1800" b="0" i="0">
                <a:solidFill>
                  <a:srgbClr val="19232D"/>
                </a:solidFill>
                <a:latin typeface="PingFang HK"/>
              </a:rPr>
              <a:t>01  誰被稱為英雄？</a:t>
            </a:r>
          </a:p>
          <a:p>
            <a:pPr algn="l">
              <a:lnSpc>
                <a:spcPct val="106000"/>
              </a:lnSpc>
              <a:spcAft>
                <a:spcPts val="1800"/>
              </a:spcAft>
            </a:pPr>
            <a:r>
              <a:rPr sz="1800" b="0" i="0">
                <a:solidFill>
                  <a:srgbClr val="19232D"/>
                </a:solidFill>
                <a:latin typeface="PingFang HK"/>
              </a:rPr>
              <a:t>02  日常生活如何承載歷史暴力？</a:t>
            </a:r>
          </a:p>
          <a:p>
            <a:pPr algn="l">
              <a:lnSpc>
                <a:spcPct val="106000"/>
              </a:lnSpc>
              <a:spcAft>
                <a:spcPts val="1800"/>
              </a:spcAft>
            </a:pPr>
            <a:r>
              <a:rPr sz="1800" b="0" i="0">
                <a:solidFill>
                  <a:srgbClr val="19232D"/>
                </a:solidFill>
                <a:latin typeface="PingFang HK"/>
              </a:rPr>
              <a:t>03  回憶錄、報導與影像的界線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53712" y="1600200"/>
            <a:ext cx="7022592" cy="1993392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37176" y="1865376"/>
            <a:ext cx="6217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7A3040"/>
                </a:solidFill>
                <a:latin typeface="PingFang HK"/>
              </a:rPr>
              <a:t>講座閱讀 · LECTURE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37176" y="2322576"/>
            <a:ext cx="6291072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650" b="0" i="0">
                <a:solidFill>
                  <a:srgbClr val="19232D"/>
                </a:solidFill>
                <a:latin typeface="PingFang HK"/>
              </a:rPr>
              <a:t>• 梁昂：《他們先殺了我父親》（節選）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650" b="0" i="0">
                <a:solidFill>
                  <a:srgbClr val="19232D"/>
                </a:solidFill>
                <a:latin typeface="PingFang HK"/>
              </a:rPr>
              <a:t>• 選讀：Rithy Panh, The Missing Picture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53712" y="3822191"/>
            <a:ext cx="7022592" cy="1344168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37176" y="4087368"/>
            <a:ext cx="6217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7A3040"/>
                </a:solidFill>
                <a:latin typeface="PingFang HK"/>
              </a:rPr>
              <a:t>導修文本 · TUTORIAL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37176" y="4507992"/>
            <a:ext cx="629107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650" b="0" i="0">
                <a:solidFill>
                  <a:srgbClr val="19232D"/>
                </a:solidFill>
                <a:latin typeface="PingFang HK"/>
              </a:rPr>
              <a:t>• 約翰·赫西：《廣島》（原版）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7A3040"/>
          </a:solidFill>
          <a:ln>
            <a:solidFill>
              <a:srgbClr val="7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642823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6717A"/>
                </a:solidFill>
                <a:latin typeface="PingFang HK"/>
              </a:rPr>
              <a:t>CHI 4335 · 比較文學專題：面對極端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09944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17A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040"/>
          </a:solidFill>
          <a:ln>
            <a:solidFill>
              <a:srgbClr val="7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0352" y="457200"/>
            <a:ext cx="1078992" cy="859536"/>
          </a:xfrm>
          <a:prstGeom prst="roundRect">
            <a:avLst>
              <a:gd name="adj" fmla="val 12000"/>
            </a:avLst>
          </a:prstGeom>
          <a:solidFill>
            <a:srgbClr val="7A3040"/>
          </a:solidFill>
          <a:ln>
            <a:solidFill>
              <a:srgbClr val="7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57200"/>
            <a:ext cx="1078992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Aptos"/>
              </a:rPr>
              <a:t>W10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47088" y="420624"/>
            <a:ext cx="69494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9232D"/>
                </a:solidFill>
                <a:latin typeface="PingFang HK"/>
              </a:rPr>
              <a:t>崇高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65376" y="914400"/>
            <a:ext cx="7132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7A3040"/>
                </a:solidFill>
                <a:latin typeface="Aptos"/>
              </a:rPr>
              <a:t>The Sublime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621792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6717A"/>
                </a:solidFill>
                <a:latin typeface="PingFang HK"/>
              </a:rPr>
              <a:t>講座 11月3日  ·  導修 11月5日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600200"/>
            <a:ext cx="3657600" cy="4315968"/>
          </a:xfrm>
          <a:prstGeom prst="roundRect">
            <a:avLst>
              <a:gd name="adj" fmla="val 12000"/>
            </a:avLst>
          </a:prstGeom>
          <a:solidFill>
            <a:srgbClr val="EADCE0"/>
          </a:solidFill>
          <a:ln>
            <a:solidFill>
              <a:srgbClr val="E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65376"/>
            <a:ext cx="2971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7A3040"/>
                </a:solidFill>
                <a:latin typeface="PingFang HK"/>
              </a:rPr>
              <a:t>核心問題 · 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468880"/>
            <a:ext cx="2999232" cy="2578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1800"/>
              </a:spcAft>
            </a:pPr>
            <a:r>
              <a:rPr sz="1800" b="0" i="0">
                <a:solidFill>
                  <a:srgbClr val="19232D"/>
                </a:solidFill>
                <a:latin typeface="PingFang HK"/>
              </a:rPr>
              <a:t>01  崇高如何連結美學與政治？</a:t>
            </a:r>
          </a:p>
          <a:p>
            <a:pPr algn="l">
              <a:lnSpc>
                <a:spcPct val="106000"/>
              </a:lnSpc>
              <a:spcAft>
                <a:spcPts val="1800"/>
              </a:spcAft>
            </a:pPr>
            <a:r>
              <a:rPr sz="1800" b="0" i="0">
                <a:solidFill>
                  <a:srgbClr val="19232D"/>
                </a:solidFill>
                <a:latin typeface="PingFang HK"/>
              </a:rPr>
              <a:t>02  英雄身體與革命主體</a:t>
            </a:r>
          </a:p>
          <a:p>
            <a:pPr algn="l">
              <a:lnSpc>
                <a:spcPct val="106000"/>
              </a:lnSpc>
              <a:spcAft>
                <a:spcPts val="1800"/>
              </a:spcAft>
            </a:pPr>
            <a:r>
              <a:rPr sz="1800" b="0" i="0">
                <a:solidFill>
                  <a:srgbClr val="19232D"/>
                </a:solidFill>
                <a:latin typeface="PingFang HK"/>
              </a:rPr>
              <a:t>03  諷刺如何拆解宏大敘事？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53712" y="1600200"/>
            <a:ext cx="7022592" cy="1993392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37176" y="1865376"/>
            <a:ext cx="6217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7A3040"/>
                </a:solidFill>
                <a:latin typeface="PingFang HK"/>
              </a:rPr>
              <a:t>講座閱讀 · LECTURE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37176" y="2322576"/>
            <a:ext cx="6291072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650" b="0" i="0">
                <a:solidFill>
                  <a:srgbClr val="19232D"/>
                </a:solidFill>
                <a:latin typeface="PingFang HK"/>
              </a:rPr>
              <a:t>• 〈用毛澤東思想武裝起來的人是最大的戰鬥力〉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650" b="0" i="0">
                <a:solidFill>
                  <a:srgbClr val="19232D"/>
                </a:solidFill>
                <a:latin typeface="PingFang HK"/>
              </a:rPr>
              <a:t>• 選讀：王斑：〈實踐的崇高主體〉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53712" y="3822191"/>
            <a:ext cx="7022592" cy="1344168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37176" y="4087368"/>
            <a:ext cx="6217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7A3040"/>
                </a:solidFill>
                <a:latin typeface="PingFang HK"/>
              </a:rPr>
              <a:t>導修文本 · TUTORIAL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37176" y="4507992"/>
            <a:ext cx="629107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650" b="0" i="0">
                <a:solidFill>
                  <a:srgbClr val="19232D"/>
                </a:solidFill>
                <a:latin typeface="PingFang HK"/>
              </a:rPr>
              <a:t>• 閻連科：《為人民服務》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53712" y="5394960"/>
            <a:ext cx="7022592" cy="530352"/>
          </a:xfrm>
          <a:prstGeom prst="roundRect">
            <a:avLst>
              <a:gd name="adj" fmla="val 12000"/>
            </a:avLst>
          </a:prstGeom>
          <a:solidFill>
            <a:srgbClr val="7A3040"/>
          </a:solidFill>
          <a:ln>
            <a:solidFill>
              <a:srgbClr val="7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18888" y="5394960"/>
            <a:ext cx="64922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FFFFFF"/>
                </a:solidFill>
                <a:latin typeface="PingFang HK"/>
              </a:rPr>
              <a:t>截止  ·  11月9日 9:00 am：比較短文（第9、10週）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7A3040"/>
          </a:solidFill>
          <a:ln>
            <a:solidFill>
              <a:srgbClr val="7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642823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6717A"/>
                </a:solidFill>
                <a:latin typeface="PingFang HK"/>
              </a:rPr>
              <a:t>CHI 4335 · 比較文學專題：面對極端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09944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17A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040"/>
          </a:solidFill>
          <a:ln>
            <a:solidFill>
              <a:srgbClr val="7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0352" y="457200"/>
            <a:ext cx="1078992" cy="859536"/>
          </a:xfrm>
          <a:prstGeom prst="roundRect">
            <a:avLst>
              <a:gd name="adj" fmla="val 12000"/>
            </a:avLst>
          </a:prstGeom>
          <a:solidFill>
            <a:srgbClr val="7A3040"/>
          </a:solidFill>
          <a:ln>
            <a:solidFill>
              <a:srgbClr val="7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57200"/>
            <a:ext cx="1078992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Aptos"/>
              </a:rPr>
              <a:t>W11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47088" y="420624"/>
            <a:ext cx="69494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9232D"/>
                </a:solidFill>
                <a:latin typeface="PingFang HK"/>
              </a:rPr>
              <a:t>性別暴力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65376" y="914400"/>
            <a:ext cx="7132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7A3040"/>
                </a:solidFill>
                <a:latin typeface="Aptos"/>
              </a:rPr>
              <a:t>Gender Violence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621792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6717A"/>
                </a:solidFill>
                <a:latin typeface="PingFang HK"/>
              </a:rPr>
              <a:t>講座 11月10日  ·  導修 11月12日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600200"/>
            <a:ext cx="3657600" cy="4315968"/>
          </a:xfrm>
          <a:prstGeom prst="roundRect">
            <a:avLst>
              <a:gd name="adj" fmla="val 12000"/>
            </a:avLst>
          </a:prstGeom>
          <a:solidFill>
            <a:srgbClr val="EADCE0"/>
          </a:solidFill>
          <a:ln>
            <a:solidFill>
              <a:srgbClr val="E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65376"/>
            <a:ext cx="2971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7A3040"/>
                </a:solidFill>
                <a:latin typeface="PingFang HK"/>
              </a:rPr>
              <a:t>核心問題 · 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468880"/>
            <a:ext cx="2999232" cy="2578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1800"/>
              </a:spcAft>
            </a:pPr>
            <a:r>
              <a:rPr sz="1800" b="0" i="0">
                <a:solidFill>
                  <a:srgbClr val="19232D"/>
                </a:solidFill>
                <a:latin typeface="PingFang HK"/>
              </a:rPr>
              <a:t>01  危機中的階級與性別政治</a:t>
            </a:r>
          </a:p>
          <a:p>
            <a:pPr algn="l">
              <a:lnSpc>
                <a:spcPct val="106000"/>
              </a:lnSpc>
              <a:spcAft>
                <a:spcPts val="1800"/>
              </a:spcAft>
            </a:pPr>
            <a:r>
              <a:rPr sz="1800" b="0" i="0">
                <a:solidFill>
                  <a:srgbClr val="19232D"/>
                </a:solidFill>
                <a:latin typeface="PingFang HK"/>
              </a:rPr>
              <a:t>02  敘事形式是否帶有性別？</a:t>
            </a:r>
          </a:p>
          <a:p>
            <a:pPr algn="l">
              <a:lnSpc>
                <a:spcPct val="106000"/>
              </a:lnSpc>
              <a:spcAft>
                <a:spcPts val="1800"/>
              </a:spcAft>
            </a:pPr>
            <a:r>
              <a:rPr sz="1800" b="0" i="0">
                <a:solidFill>
                  <a:srgbClr val="19232D"/>
                </a:solidFill>
                <a:latin typeface="PingFang HK"/>
              </a:rPr>
              <a:t>03  暴力、婚姻與女性主體性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53712" y="1600200"/>
            <a:ext cx="7022592" cy="1993392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37176" y="1865376"/>
            <a:ext cx="6217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7A3040"/>
                </a:solidFill>
                <a:latin typeface="PingFang HK"/>
              </a:rPr>
              <a:t>講座閱讀 · LECTURE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37176" y="2322576"/>
            <a:ext cx="6291072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650" b="0" i="0">
                <a:solidFill>
                  <a:srgbClr val="19232D"/>
                </a:solidFill>
                <a:latin typeface="PingFang HK"/>
              </a:rPr>
              <a:t>• 李海燕：〈話說《白毛女》〉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650" b="0" i="0">
                <a:solidFill>
                  <a:srgbClr val="19232D"/>
                </a:solidFill>
                <a:latin typeface="PingFang HK"/>
              </a:rPr>
              <a:t>• 申丹：〈敘事形式與性別政治〉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53712" y="3822191"/>
            <a:ext cx="7022592" cy="1344168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37176" y="4087368"/>
            <a:ext cx="6217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7A3040"/>
                </a:solidFill>
                <a:latin typeface="PingFang HK"/>
              </a:rPr>
              <a:t>導修文本 · TUTORIAL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37176" y="4507992"/>
            <a:ext cx="629107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650" b="0" i="0">
                <a:solidFill>
                  <a:srgbClr val="19232D"/>
                </a:solidFill>
                <a:latin typeface="PingFang HK"/>
              </a:rPr>
              <a:t>• 李昂：《殺夫》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7A3040"/>
          </a:solidFill>
          <a:ln>
            <a:solidFill>
              <a:srgbClr val="7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642823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6717A"/>
                </a:solidFill>
                <a:latin typeface="PingFang HK"/>
              </a:rPr>
              <a:t>CHI 4335 · 比較文學專題：面對極端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09944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17A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040"/>
          </a:solidFill>
          <a:ln>
            <a:solidFill>
              <a:srgbClr val="7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0352" y="457200"/>
            <a:ext cx="1078992" cy="859536"/>
          </a:xfrm>
          <a:prstGeom prst="roundRect">
            <a:avLst>
              <a:gd name="adj" fmla="val 12000"/>
            </a:avLst>
          </a:prstGeom>
          <a:solidFill>
            <a:srgbClr val="7A3040"/>
          </a:solidFill>
          <a:ln>
            <a:solidFill>
              <a:srgbClr val="7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57200"/>
            <a:ext cx="1078992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Aptos"/>
              </a:rPr>
              <a:t>W12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47088" y="420624"/>
            <a:ext cx="69494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9232D"/>
                </a:solidFill>
                <a:latin typeface="PingFang HK"/>
              </a:rPr>
              <a:t>種族暴力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65376" y="914400"/>
            <a:ext cx="7132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7A3040"/>
                </a:solidFill>
                <a:latin typeface="Aptos"/>
              </a:rPr>
              <a:t>Racial Violence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621792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6717A"/>
                </a:solidFill>
                <a:latin typeface="PingFang HK"/>
              </a:rPr>
              <a:t>講座 11月17日  ·  導修 11月19日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600200"/>
            <a:ext cx="3657600" cy="4315968"/>
          </a:xfrm>
          <a:prstGeom prst="roundRect">
            <a:avLst>
              <a:gd name="adj" fmla="val 12000"/>
            </a:avLst>
          </a:prstGeom>
          <a:solidFill>
            <a:srgbClr val="EADCE0"/>
          </a:solidFill>
          <a:ln>
            <a:solidFill>
              <a:srgbClr val="E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65376"/>
            <a:ext cx="2971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7A3040"/>
                </a:solidFill>
                <a:latin typeface="PingFang HK"/>
              </a:rPr>
              <a:t>核心問題 · 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468880"/>
            <a:ext cx="2999232" cy="2578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1800"/>
              </a:spcAft>
            </a:pPr>
            <a:r>
              <a:rPr sz="1800" b="0" i="0">
                <a:solidFill>
                  <a:srgbClr val="19232D"/>
                </a:solidFill>
                <a:latin typeface="PingFang HK"/>
              </a:rPr>
              <a:t>01  暴力如何成為公共景觀？</a:t>
            </a:r>
          </a:p>
          <a:p>
            <a:pPr algn="l">
              <a:lnSpc>
                <a:spcPct val="106000"/>
              </a:lnSpc>
              <a:spcAft>
                <a:spcPts val="1800"/>
              </a:spcAft>
            </a:pPr>
            <a:r>
              <a:rPr sz="1800" b="0" i="0">
                <a:solidFill>
                  <a:srgbClr val="19232D"/>
                </a:solidFill>
                <a:latin typeface="PingFang HK"/>
              </a:rPr>
              <a:t>02  種族隔離、觀看與文化</a:t>
            </a:r>
          </a:p>
          <a:p>
            <a:pPr algn="l">
              <a:lnSpc>
                <a:spcPct val="106000"/>
              </a:lnSpc>
              <a:spcAft>
                <a:spcPts val="1800"/>
              </a:spcAft>
            </a:pPr>
            <a:r>
              <a:rPr sz="1800" b="0" i="0">
                <a:solidFill>
                  <a:srgbClr val="19232D"/>
                </a:solidFill>
                <a:latin typeface="PingFang HK"/>
              </a:rPr>
              <a:t>03  敘事如何呈現恐懼與權力？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53712" y="1600200"/>
            <a:ext cx="7022592" cy="1993392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37176" y="1865376"/>
            <a:ext cx="6217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7A3040"/>
                </a:solidFill>
                <a:latin typeface="PingFang HK"/>
              </a:rPr>
              <a:t>講座閱讀 · LECTURE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37176" y="2322576"/>
            <a:ext cx="6291072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650" b="0" i="0">
                <a:solidFill>
                  <a:srgbClr val="19232D"/>
                </a:solidFill>
                <a:latin typeface="PingFang HK"/>
              </a:rPr>
              <a:t>• Grace Elizabeth Hale, “Deadly Amusements”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650" b="0" i="0">
                <a:solidFill>
                  <a:srgbClr val="19232D"/>
                </a:solidFill>
                <a:latin typeface="PingFang HK"/>
              </a:rPr>
              <a:t>• 選讀：Frantz Fanon, “The Lived Experience of the Black Man”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53712" y="3822191"/>
            <a:ext cx="7022592" cy="1344168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37176" y="4087368"/>
            <a:ext cx="6217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7A3040"/>
                </a:solidFill>
                <a:latin typeface="PingFang HK"/>
              </a:rPr>
              <a:t>導修文本 · TUTORIAL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37176" y="4507992"/>
            <a:ext cx="629107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650" b="0" i="0">
                <a:solidFill>
                  <a:srgbClr val="19232D"/>
                </a:solidFill>
                <a:latin typeface="PingFang HK"/>
              </a:rPr>
              <a:t>• 詹姆斯·鮑德溫：〈去見那個男人〉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53712" y="5394960"/>
            <a:ext cx="7022592" cy="530352"/>
          </a:xfrm>
          <a:prstGeom prst="roundRect">
            <a:avLst>
              <a:gd name="adj" fmla="val 12000"/>
            </a:avLst>
          </a:prstGeom>
          <a:solidFill>
            <a:srgbClr val="7A3040"/>
          </a:solidFill>
          <a:ln>
            <a:solidFill>
              <a:srgbClr val="7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18888" y="5394960"/>
            <a:ext cx="64922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FFFFFF"/>
                </a:solidFill>
                <a:latin typeface="PingFang HK"/>
              </a:rPr>
              <a:t>截止  ·  11月23日 9:00 am：比較短文（第11、12週）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7A3040"/>
          </a:solidFill>
          <a:ln>
            <a:solidFill>
              <a:srgbClr val="7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642823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6717A"/>
                </a:solidFill>
                <a:latin typeface="PingFang HK"/>
              </a:rPr>
              <a:t>CHI 4335 · 比較文學專題：面對極端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09944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17A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9128"/>
          </a:solidFill>
          <a:ln>
            <a:solidFill>
              <a:srgbClr val="C89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0352" y="457200"/>
            <a:ext cx="1078992" cy="859536"/>
          </a:xfrm>
          <a:prstGeom prst="roundRect">
            <a:avLst>
              <a:gd name="adj" fmla="val 12000"/>
            </a:avLst>
          </a:prstGeom>
          <a:solidFill>
            <a:srgbClr val="C89128"/>
          </a:solidFill>
          <a:ln>
            <a:solidFill>
              <a:srgbClr val="C89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57200"/>
            <a:ext cx="1078992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Aptos"/>
              </a:rPr>
              <a:t>W13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47088" y="420624"/>
            <a:ext cx="69494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9232D"/>
                </a:solidFill>
                <a:latin typeface="PingFang HK"/>
              </a:rPr>
              <a:t>走向救贖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65376" y="914400"/>
            <a:ext cx="7132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C89128"/>
                </a:solidFill>
                <a:latin typeface="Aptos"/>
              </a:rPr>
              <a:t>Towards Redemption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66760" y="621792"/>
            <a:ext cx="32461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0" i="0">
                <a:solidFill>
                  <a:srgbClr val="66717A"/>
                </a:solidFill>
                <a:latin typeface="PingFang HK"/>
              </a:rPr>
              <a:t>講座 11月24日  ·  導修 11月26日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600200"/>
            <a:ext cx="3657600" cy="4315968"/>
          </a:xfrm>
          <a:prstGeom prst="roundRect">
            <a:avLst>
              <a:gd name="adj" fmla="val 12000"/>
            </a:avLst>
          </a:prstGeom>
          <a:solidFill>
            <a:srgbClr val="F3E7C9"/>
          </a:solidFill>
          <a:ln>
            <a:solidFill>
              <a:srgbClr val="F3E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65376"/>
            <a:ext cx="2971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C89128"/>
                </a:solidFill>
                <a:latin typeface="PingFang HK"/>
              </a:rPr>
              <a:t>核心問題 · 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468880"/>
            <a:ext cx="2999232" cy="2578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1800"/>
              </a:spcAft>
            </a:pPr>
            <a:r>
              <a:rPr sz="1800" b="0" i="0">
                <a:solidFill>
                  <a:srgbClr val="19232D"/>
                </a:solidFill>
                <a:latin typeface="PingFang HK"/>
              </a:rPr>
              <a:t>01  災難之後，何謂救贖？</a:t>
            </a:r>
          </a:p>
          <a:p>
            <a:pPr algn="l">
              <a:lnSpc>
                <a:spcPct val="106000"/>
              </a:lnSpc>
              <a:spcAft>
                <a:spcPts val="1800"/>
              </a:spcAft>
            </a:pPr>
            <a:r>
              <a:rPr sz="1800" b="0" i="0">
                <a:solidFill>
                  <a:srgbClr val="19232D"/>
                </a:solidFill>
                <a:latin typeface="PingFang HK"/>
              </a:rPr>
              <a:t>02  歷史、記憶與「現在」</a:t>
            </a:r>
          </a:p>
          <a:p>
            <a:pPr algn="l">
              <a:lnSpc>
                <a:spcPct val="106000"/>
              </a:lnSpc>
              <a:spcAft>
                <a:spcPts val="1800"/>
              </a:spcAft>
            </a:pPr>
            <a:r>
              <a:rPr sz="1800" b="0" i="0">
                <a:solidFill>
                  <a:srgbClr val="19232D"/>
                </a:solidFill>
                <a:latin typeface="PingFang HK"/>
              </a:rPr>
              <a:t>03  文學能否想像新的開始？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53712" y="1600200"/>
            <a:ext cx="7022592" cy="1993392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37176" y="1865376"/>
            <a:ext cx="6217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C89128"/>
                </a:solidFill>
                <a:latin typeface="PingFang HK"/>
              </a:rPr>
              <a:t>講座閱讀 · LECTURE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37176" y="2322576"/>
            <a:ext cx="6291072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650" b="0" i="0">
                <a:solidFill>
                  <a:srgbClr val="19232D"/>
                </a:solidFill>
                <a:latin typeface="PingFang HK"/>
              </a:rPr>
              <a:t>• 瓦爾特·本雅明：《歷史哲學論綱》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53712" y="3822191"/>
            <a:ext cx="7022592" cy="1344168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37176" y="4087368"/>
            <a:ext cx="6217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C89128"/>
                </a:solidFill>
                <a:latin typeface="PingFang HK"/>
              </a:rPr>
              <a:t>導修文本 · TUTORIAL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37176" y="4507992"/>
            <a:ext cx="629107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600"/>
              </a:spcAft>
            </a:pPr>
            <a:r>
              <a:rPr sz="1650" b="0" i="0">
                <a:solidFill>
                  <a:srgbClr val="19232D"/>
                </a:solidFill>
                <a:latin typeface="PingFang HK"/>
              </a:rPr>
              <a:t>• 雙雪濤：《平原上的摩西》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53712" y="5394960"/>
            <a:ext cx="7022592" cy="530352"/>
          </a:xfrm>
          <a:prstGeom prst="roundRect">
            <a:avLst>
              <a:gd name="adj" fmla="val 12000"/>
            </a:avLst>
          </a:prstGeom>
          <a:solidFill>
            <a:srgbClr val="C89128"/>
          </a:solidFill>
          <a:ln>
            <a:solidFill>
              <a:srgbClr val="C89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18888" y="5394960"/>
            <a:ext cx="64922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FFFFFF"/>
                </a:solidFill>
                <a:latin typeface="PingFang HK"/>
              </a:rPr>
              <a:t>截止  ·  12月7日 9:00 am：期末專題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C89128"/>
          </a:solidFill>
          <a:ln>
            <a:solidFill>
              <a:srgbClr val="C89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642823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6717A"/>
                </a:solidFill>
                <a:latin typeface="PingFang HK"/>
              </a:rPr>
              <a:t>CHI 4335 · 比較文學專題：面對極端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409944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17A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9128"/>
          </a:solidFill>
          <a:ln>
            <a:solidFill>
              <a:srgbClr val="C89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9052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9232D"/>
                </a:solidFill>
                <a:latin typeface="PingFang HK"/>
              </a:rPr>
              <a:t>重要日期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32688"/>
            <a:ext cx="896112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C89128"/>
                </a:solidFill>
                <a:latin typeface="Aptos"/>
              </a:rPr>
              <a:t>KEY DEADLINES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C89128"/>
          </a:solidFill>
          <a:ln>
            <a:solidFill>
              <a:srgbClr val="C89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28232"/>
            <a:ext cx="4754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66717A"/>
                </a:solidFill>
                <a:latin typeface="PingFang HK"/>
              </a:rPr>
              <a:t>CHI 4335 · 比較文學專題：面對極端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09944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66717A"/>
                </a:solidFill>
                <a:latin typeface="Aptos"/>
              </a:rP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1325880"/>
            <a:ext cx="1417320" cy="530352"/>
          </a:xfrm>
          <a:prstGeom prst="roundRect">
            <a:avLst>
              <a:gd name="adj" fmla="val 12000"/>
            </a:avLst>
          </a:prstGeom>
          <a:solidFill>
            <a:srgbClr val="C89128"/>
          </a:solidFill>
          <a:ln>
            <a:solidFill>
              <a:srgbClr val="C89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325880"/>
            <a:ext cx="14173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PingFang HK"/>
              </a:rPr>
              <a:t>9月21日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362456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19232D"/>
                </a:solidFill>
                <a:latin typeface="PingFang HK"/>
              </a:rPr>
              <a:t>第2–3週比較短文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1362456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66717A"/>
                </a:solidFill>
                <a:latin typeface="PingFang HK"/>
              </a:rPr>
              <a:t>上午 9:00 · Moodle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" y="2084831"/>
            <a:ext cx="1417320" cy="530352"/>
          </a:xfrm>
          <a:prstGeom prst="roundRect">
            <a:avLst>
              <a:gd name="adj" fmla="val 12000"/>
            </a:avLst>
          </a:prstGeom>
          <a:solidFill>
            <a:srgbClr val="C89128"/>
          </a:solidFill>
          <a:ln>
            <a:solidFill>
              <a:srgbClr val="C89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084831"/>
            <a:ext cx="14173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PingFang HK"/>
              </a:rPr>
              <a:t>10月5日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121408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19232D"/>
                </a:solidFill>
                <a:latin typeface="PingFang HK"/>
              </a:rPr>
              <a:t>第4–5週比較短文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12140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66717A"/>
                </a:solidFill>
                <a:latin typeface="PingFang HK"/>
              </a:rPr>
              <a:t>上午 9:00 · Moodle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" y="2843784"/>
            <a:ext cx="1417320" cy="530352"/>
          </a:xfrm>
          <a:prstGeom prst="roundRect">
            <a:avLst>
              <a:gd name="adj" fmla="val 12000"/>
            </a:avLst>
          </a:prstGeom>
          <a:solidFill>
            <a:srgbClr val="C89128"/>
          </a:solidFill>
          <a:ln>
            <a:solidFill>
              <a:srgbClr val="C89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2843784"/>
            <a:ext cx="14173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PingFang HK"/>
              </a:rPr>
              <a:t>10月26日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880360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19232D"/>
                </a:solidFill>
                <a:latin typeface="PingFang HK"/>
              </a:rPr>
              <a:t>第6–8週比較短文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288036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66717A"/>
                </a:solidFill>
                <a:latin typeface="PingFang HK"/>
              </a:rPr>
              <a:t>上午 9:00 · Moodle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" y="3602735"/>
            <a:ext cx="1417320" cy="530352"/>
          </a:xfrm>
          <a:prstGeom prst="roundRect">
            <a:avLst>
              <a:gd name="adj" fmla="val 12000"/>
            </a:avLst>
          </a:prstGeom>
          <a:solidFill>
            <a:srgbClr val="C89128"/>
          </a:solidFill>
          <a:ln>
            <a:solidFill>
              <a:srgbClr val="C89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3602735"/>
            <a:ext cx="14173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PingFang HK"/>
              </a:rPr>
              <a:t>11月9日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3639311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19232D"/>
                </a:solidFill>
                <a:latin typeface="PingFang HK"/>
              </a:rPr>
              <a:t>第9–10週比較短文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3639311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66717A"/>
                </a:solidFill>
                <a:latin typeface="PingFang HK"/>
              </a:rPr>
              <a:t>上午 9:00 · Moodle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6384" y="4361688"/>
            <a:ext cx="1417320" cy="530352"/>
          </a:xfrm>
          <a:prstGeom prst="roundRect">
            <a:avLst>
              <a:gd name="adj" fmla="val 12000"/>
            </a:avLst>
          </a:prstGeom>
          <a:solidFill>
            <a:srgbClr val="C89128"/>
          </a:solidFill>
          <a:ln>
            <a:solidFill>
              <a:srgbClr val="C89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4361688"/>
            <a:ext cx="14173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PingFang HK"/>
              </a:rPr>
              <a:t>11月23日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4398264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19232D"/>
                </a:solidFill>
                <a:latin typeface="PingFang HK"/>
              </a:rPr>
              <a:t>第11–12週比較短文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60" y="4398264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66717A"/>
                </a:solidFill>
                <a:latin typeface="PingFang HK"/>
              </a:rPr>
              <a:t>上午 9:00 · Moodle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" y="5120640"/>
            <a:ext cx="1417320" cy="530352"/>
          </a:xfrm>
          <a:prstGeom prst="roundRect">
            <a:avLst>
              <a:gd name="adj" fmla="val 12000"/>
            </a:avLst>
          </a:prstGeom>
          <a:solidFill>
            <a:srgbClr val="7A3040"/>
          </a:solidFill>
          <a:ln>
            <a:solidFill>
              <a:srgbClr val="7A3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5120640"/>
            <a:ext cx="141732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PingFang HK"/>
              </a:rPr>
              <a:t>12月7日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5157216"/>
            <a:ext cx="4251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9232D"/>
                </a:solidFill>
                <a:latin typeface="PingFang HK"/>
              </a:rPr>
              <a:t>期末專題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09560" y="5157216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66717A"/>
                </a:solidFill>
                <a:latin typeface="PingFang HK"/>
              </a:rPr>
              <a:t>上午 9:00 · Moodle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6384" y="5961888"/>
            <a:ext cx="10698480" cy="27432"/>
          </a:xfrm>
          <a:prstGeom prst="rect">
            <a:avLst/>
          </a:prstGeom>
          <a:solidFill>
            <a:srgbClr val="D5D0C6"/>
          </a:solidFill>
          <a:ln>
            <a:solidFill>
              <a:srgbClr val="D5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720" y="6117336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0" i="0">
                <a:solidFill>
                  <a:srgbClr val="66717A"/>
                </a:solidFill>
                <a:latin typeface="PingFang HK"/>
              </a:rPr>
              <a:t>比較短文五個題目中選寫兩篇；如提交更多，只計最高兩篇。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3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648" y="0"/>
            <a:ext cx="4721047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7772400" cy="6858000"/>
          </a:xfrm>
          <a:prstGeom prst="rect">
            <a:avLst/>
          </a:prstGeom>
          <a:solidFill>
            <a:srgbClr val="19232D"/>
          </a:solidFill>
          <a:ln>
            <a:solidFill>
              <a:srgbClr val="19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987552"/>
            <a:ext cx="60350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C89128"/>
                </a:solidFill>
                <a:latin typeface="PingFang HK"/>
              </a:rPr>
              <a:t>我們的共同任務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755648"/>
            <a:ext cx="6080760" cy="1335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PingFang HK"/>
              </a:rPr>
              <a:t>在面對極端時，
保持精確、好奇與同理。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3383280"/>
            <a:ext cx="61264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CED5DA"/>
                </a:solidFill>
                <a:latin typeface="Aptos"/>
              </a:rPr>
              <a:t>Describe carefully. Compare responsibly. Read generously.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5029200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C89128"/>
                </a:solidFill>
                <a:latin typeface="PingFang HK"/>
              </a:rPr>
              <a:t>問題？ Questions?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5687568"/>
            <a:ext cx="4114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Aptos"/>
              </a:rPr>
              <a:t>maciej.kurzynski@ln.edu.hk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6437376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9AA6AE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 4335 Course Introduction</dc:title>
  <dc:subject>Special Topics in Comparative Literature: Facing the Extreme</dc:subject>
  <dc:creator>Maciej Kurzynski</dc:creator>
  <cp:keywords>CHI4335, comparative literature, course introduction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